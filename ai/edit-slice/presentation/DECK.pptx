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About 10 minutes. The audience is not a specialist: no term appears before the thing it names. Every claim traces to a record and the id is in these notes, never on the slide, so a question can be answered from the ledger live. Problems 4 and 5 are our own errors — say so plainly; they are what makes the rest credible. Deck is a backstop, not a script.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Keep this slow. The audience needs to believe the tools are legitimate and widely used before the problems land. Do not say ROME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E-016 (the arithmetic), E-017, E-021 (causal: the name position is both sufficient and necessary). E-018: a DIFFERENT person's name gets 8%, so this really is keyed on the subject and not on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E-014 then E-015. 28/42 both arms, paired difference +0.0pp, exact McNemar p=1.000; same city 84% of the time. This is the slide that changes minds — let the control land before moving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consequence in §7 of the paper, priced at about a week: re-score one published ripple benchmark with the subject moved later in the sentence. The honest position is that we have not run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E-026's RCA. The gate matched arms on 'lift on the target', which a logit nudge also achieves. E-028a then measured it: lift spans 0.17 nats across two layers and a 4x budget while real strength spans 5.70. Say plainly that this was our error before it was anyone else's.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T-079 answered DENY. E-028b matched the arms (16x step budget), E-028c found 63% difference at identical delivery, E-028d broke the layer/budget collinearity. 1.22 vs 0.41 nats of reach per nat displaced.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Table 5 of the paper. This is the most credible slide in the deck and the easiest to rush — do not.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§7 and §8 of the paper. Ask directly; do not hedge. Silence is also feedback.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60000" y="2560000"/>
            <a:ext cx="760000" cy="66000"/>
          </a:xfrm>
          <a:prstGeom prst="rect">
            <a:avLst/>
          </a:prstGeom>
          <a:solidFill>
            <a:srgbClr val="F6A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60000" y="2720000"/>
            <a:ext cx="10672000" cy="1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800" b="1" i="0">
                <a:solidFill>
                  <a:srgbClr val="EAECF4"/>
                </a:solidFill>
                <a:latin typeface="Helvetica Neue"/>
              </a:rPr>
              <a:t>We tried to fix one fact inside an AI</a:t>
            </a:r>
          </a:p>
          <a:p>
            <a:r>
              <a:rPr sz="3800" b="1" i="0">
                <a:solidFill>
                  <a:srgbClr val="7C9CFF"/>
                </a:solidFill>
                <a:latin typeface="Helvetica Neue"/>
              </a:rPr>
              <a:t>and found out what else moves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4480000"/>
            <a:ext cx="10672000" cy="7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0" i="0">
                <a:solidFill>
                  <a:srgbClr val="8A93A8"/>
                </a:solidFill>
                <a:latin typeface="Helvetica Neue"/>
              </a:rPr>
              <a:t>edit-slice · what we found · 2026-09-21 · Saif Ul Islam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1518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§1 · THE SETUP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34000" y="430000"/>
            <a:ext cx="598000" cy="340000"/>
          </a:xfrm>
          <a:prstGeom prst="roundRect">
            <a:avLst/>
          </a:prstGeom>
          <a:solidFill>
            <a:srgbClr val="16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8A93A8"/>
                </a:solidFill>
                <a:latin typeface="Helvetica Neue"/>
              </a:rPr>
              <a:t>⏱ 1m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Fixing one fact inside an AI, without retraining it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edit-slice · what an edit really moves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02 /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812000"/>
            <a:ext cx="2709333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1900000"/>
            <a:ext cx="10672000" cy="4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An AI has learned millions of facts. Some are wrong, or go out of date.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Retraining the whole thing costs a fortune — so people built tools that reach in and change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just that one fact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These tools are widely used and they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work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, by the measure the field uses.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Our question is the one underneath: when you fix one fact, </a:t>
            </a:r>
            <a:r>
              <a:rPr sz="1800" b="1" i="0">
                <a:solidFill>
                  <a:srgbClr val="F6A96B"/>
                </a:solidFill>
                <a:latin typeface="Helvetica Neue"/>
              </a:rPr>
              <a:t>what else moves?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1518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§2 · PROBLEM 1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34000" y="430000"/>
            <a:ext cx="598000" cy="340000"/>
          </a:xfrm>
          <a:prstGeom prst="roundRect">
            <a:avLst/>
          </a:prstGeom>
          <a:solidFill>
            <a:srgbClr val="16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8A93A8"/>
                </a:solidFill>
                <a:latin typeface="Helvetica Neue"/>
              </a:rPr>
              <a:t>⏱ 2m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It doesn't fix a fact. It smears over a name.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edit-slice · what an edit really moves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03 /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812000"/>
            <a:ext cx="4064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1900000"/>
            <a:ext cx="10672000" cy="4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We changed which country one person was born in.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Afterwards the AI also answered differently about their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job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, their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language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, their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citizenship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— things we never touched.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The pattern: anything you ask that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starts with that person's name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gets hit.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Think </a:t>
            </a:r>
            <a:r>
              <a:rPr sz="1800" b="1" i="0">
                <a:solidFill>
                  <a:srgbClr val="F58AA0"/>
                </a:solidFill>
                <a:latin typeface="Helvetica Neue"/>
              </a:rPr>
              <a:t>find-and-replace on a name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when you meant to correct one sentence.</a:t>
            </a:r>
          </a:p>
          <a:p>
            <a:pPr lvl="1">
              <a:lnSpc>
                <a:spcPct val="108000"/>
              </a:lnSpc>
              <a:spcAft>
                <a:spcPts val="500"/>
              </a:spcAft>
            </a:pPr>
            <a:r>
              <a:rPr sz="1600" b="0" i="0">
                <a:solidFill>
                  <a:srgbClr val="8A93A8"/>
                </a:solidFill>
                <a:latin typeface="Helvetica Neue"/>
              </a:rPr>
              <a:t>    –  </a:t>
            </a:r>
            <a:r>
              <a:rPr sz="1600" b="0" i="0">
                <a:solidFill>
                  <a:srgbClr val="8A93A8"/>
                </a:solidFill>
                <a:latin typeface="Helvetica Neue"/>
              </a:rPr>
              <a:t>And not partially — at </a:t>
            </a:r>
            <a:r>
              <a:rPr sz="1600" b="1" i="0">
                <a:solidFill>
                  <a:srgbClr val="EAECF4"/>
                </a:solidFill>
                <a:latin typeface="Helvetica Neue"/>
              </a:rPr>
              <a:t>full strength</a:t>
            </a:r>
            <a:r>
              <a:rPr sz="1600" b="0" i="0">
                <a:solidFill>
                  <a:srgbClr val="8A93A8"/>
                </a:solidFill>
                <a:latin typeface="Helvetica Neue"/>
              </a:rPr>
              <a:t>, every time. It falls out of the arithmetic the tool uses, so it is not a glitch that better tuning fixes.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1518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§2 · PROBLEM 2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34000" y="430000"/>
            <a:ext cx="598000" cy="340000"/>
          </a:xfrm>
          <a:prstGeom prst="roundRect">
            <a:avLst/>
          </a:prstGeom>
          <a:solidFill>
            <a:srgbClr val="16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8A93A8"/>
                </a:solidFill>
                <a:latin typeface="Helvetica Neue"/>
              </a:rPr>
              <a:t>⏱ 2m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What looks like the AI reasoning is the AI being overwritten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edit-slice · what an edit really moves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04 /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812000"/>
            <a:ext cx="5418666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1900000"/>
            <a:ext cx="10672000" cy="4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We changed the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country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someone was born in. Then asked for the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city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The AI named a city in the new country. </a:t>
            </a:r>
            <a:r>
              <a:rPr sz="1800" b="1" i="0">
                <a:solidFill>
                  <a:srgbClr val="6FD39A"/>
                </a:solidFill>
                <a:latin typeface="Helvetica Neue"/>
              </a:rPr>
              <a:t>That looks like thinking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— as if it worked out that a new country means a new city.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So we tried something that should NOT work: we changed where the person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works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instead. Where you work says nothing about where you were born.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F58AA0"/>
                </a:solidFill>
                <a:latin typeface="Helvetica Neue"/>
              </a:rPr>
              <a:t>The AI moved their birth city anyway. Same rate. Usually the same city.</a:t>
            </a:r>
          </a:p>
          <a:p>
            <a:pPr lvl="1">
              <a:lnSpc>
                <a:spcPct val="108000"/>
              </a:lnSpc>
              <a:spcAft>
                <a:spcPts val="500"/>
              </a:spcAft>
            </a:pPr>
            <a:r>
              <a:rPr sz="1600" b="0" i="0">
                <a:solidFill>
                  <a:srgbClr val="8A93A8"/>
                </a:solidFill>
                <a:latin typeface="Helvetica Neue"/>
              </a:rPr>
              <a:t>    –  </a:t>
            </a:r>
            <a:r>
              <a:rPr sz="1600" b="0" i="0">
                <a:solidFill>
                  <a:srgbClr val="8A93A8"/>
                </a:solidFill>
                <a:latin typeface="Helvetica Neue"/>
              </a:rPr>
              <a:t>Nothing was being figured out. The name got painted over and everything hanging off it came along.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1518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§2 · PROBLEM 3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34000" y="430000"/>
            <a:ext cx="598000" cy="340000"/>
          </a:xfrm>
          <a:prstGeom prst="roundRect">
            <a:avLst/>
          </a:prstGeom>
          <a:solidFill>
            <a:srgbClr val="16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8A93A8"/>
                </a:solidFill>
                <a:latin typeface="Helvetica Neue"/>
              </a:rPr>
              <a:t>⏱ 2m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The tests used to check this may be graded on the glitch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edit-slice · what an edit really moves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05 /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812000"/>
            <a:ext cx="6773333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1900000"/>
            <a:ext cx="10672000" cy="4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The standard way to check whether a fix 'spread sensibly' is to ask follow-up questions.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Almost all of those questions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start with the person's name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But that is exactly the case that breaks — the one that gets the fix at full strength automatically.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So a test may be measuring the glitch and </a:t>
            </a:r>
            <a:r>
              <a:rPr sz="1800" b="1" i="0">
                <a:solidFill>
                  <a:srgbClr val="F6A96B"/>
                </a:solidFill>
                <a:latin typeface="Helvetica Neue"/>
              </a:rPr>
              <a:t>scoring it as intelligence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.</a:t>
            </a:r>
          </a:p>
          <a:p>
            <a:pPr lvl="1">
              <a:lnSpc>
                <a:spcPct val="108000"/>
              </a:lnSpc>
              <a:spcAft>
                <a:spcPts val="500"/>
              </a:spcAft>
            </a:pPr>
            <a:r>
              <a:rPr sz="1600" b="0" i="0">
                <a:solidFill>
                  <a:srgbClr val="8A93A8"/>
                </a:solidFill>
                <a:latin typeface="Helvetica Neue"/>
              </a:rPr>
              <a:t>    –  </a:t>
            </a:r>
            <a:r>
              <a:rPr sz="1600" b="0" i="0">
                <a:solidFill>
                  <a:srgbClr val="8A93A8"/>
                </a:solidFill>
                <a:latin typeface="Helvetica Neue"/>
              </a:rPr>
              <a:t>Nobody did this on purpose. It is just how the questions happen to be worded. We cannot yet say how much of it is affected — and that is the thing we would most like someone to check.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1518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§2 · PROBLEM 4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34000" y="430000"/>
            <a:ext cx="598000" cy="340000"/>
          </a:xfrm>
          <a:prstGeom prst="roundRect">
            <a:avLst/>
          </a:prstGeom>
          <a:solidFill>
            <a:srgbClr val="16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8A93A8"/>
                </a:solidFill>
                <a:latin typeface="Helvetica Neue"/>
              </a:rPr>
              <a:t>⏱ 1m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The standard 'did it work?' check is too easy to pass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edit-slice · what an edit really moves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06 /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812000"/>
            <a:ext cx="8128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1900000"/>
            <a:ext cx="10672000" cy="4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The usual check asks only: does the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new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answer now beat the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old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one?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A fix can pass that while barely changing what the AI actually believes.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F58AA0"/>
                </a:solidFill>
                <a:latin typeface="Helvetica Neue"/>
              </a:rPr>
              <a:t>We know because we fell for it ourselves.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We built a safety check on that idea, it gave us a green light, and it was worthless.</a:t>
            </a:r>
          </a:p>
          <a:p>
            <a:pPr lvl="1">
              <a:lnSpc>
                <a:spcPct val="108000"/>
              </a:lnSpc>
              <a:spcAft>
                <a:spcPts val="500"/>
              </a:spcAft>
            </a:pPr>
            <a:r>
              <a:rPr sz="1600" b="0" i="0">
                <a:solidFill>
                  <a:srgbClr val="8A93A8"/>
                </a:solidFill>
                <a:latin typeface="Helvetica Neue"/>
              </a:rPr>
              <a:t>    –  </a:t>
            </a:r>
            <a:r>
              <a:rPr sz="1600" b="0" i="0">
                <a:solidFill>
                  <a:srgbClr val="8A93A8"/>
                </a:solidFill>
                <a:latin typeface="Helvetica Neue"/>
              </a:rPr>
              <a:t>We had to throw out a result and redo the work three times to get it honestly.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1518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§2 · PROBLEM 5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34000" y="430000"/>
            <a:ext cx="598000" cy="340000"/>
          </a:xfrm>
          <a:prstGeom prst="roundRect">
            <a:avLst/>
          </a:prstGeom>
          <a:solidFill>
            <a:srgbClr val="16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8A93A8"/>
                </a:solidFill>
                <a:latin typeface="Helvetica Neue"/>
              </a:rPr>
              <a:t>⏱ 1m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Our own best idea was wrong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edit-slice · what an edit really moves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07 /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812000"/>
            <a:ext cx="9482666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1900000"/>
            <a:ext cx="10672000" cy="4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We could measure exactly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how much of a fix arrives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at any given question — cheaply, without running the damaged AI.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That looked like a way to predict harm before paying for it.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F58AA0"/>
                </a:solidFill>
                <a:latin typeface="Helvetica Neue"/>
              </a:rPr>
              <a:t>It does not predict harm.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Same amount arriving,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three times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the damage, depending only on where in the AI you make the change.</a:t>
            </a:r>
          </a:p>
          <a:p>
            <a:pPr lvl="1">
              <a:lnSpc>
                <a:spcPct val="108000"/>
              </a:lnSpc>
              <a:spcAft>
                <a:spcPts val="500"/>
              </a:spcAft>
            </a:pPr>
            <a:r>
              <a:rPr sz="1600" b="0" i="0">
                <a:solidFill>
                  <a:srgbClr val="8A93A8"/>
                </a:solidFill>
                <a:latin typeface="Helvetica Neue"/>
              </a:rPr>
              <a:t>    –  </a:t>
            </a:r>
            <a:r>
              <a:rPr sz="1600" b="0" i="0">
                <a:solidFill>
                  <a:srgbClr val="8A93A8"/>
                </a:solidFill>
                <a:latin typeface="Helvetica Neue"/>
              </a:rPr>
              <a:t>We checked this four separate ways before believing it, because it cost us the most attractive thing we had.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1610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§3 · THE RECORD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34000" y="430000"/>
            <a:ext cx="598000" cy="340000"/>
          </a:xfrm>
          <a:prstGeom prst="roundRect">
            <a:avLst/>
          </a:prstGeom>
          <a:solidFill>
            <a:srgbClr val="16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8A93A8"/>
                </a:solidFill>
                <a:latin typeface="Helvetica Neue"/>
              </a:rPr>
              <a:t>⏱ 1m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Eleven claims. Eight withdrawn or narrowed.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edit-slice · what an edit really moves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08 /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812000"/>
            <a:ext cx="10837333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1900000"/>
            <a:ext cx="10672000" cy="4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Most of what we learned is what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does not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work.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Every withdrawn claim is published with what killed it — including the ones we withdrew after writing them up.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6FD39A"/>
                </a:solidFill>
                <a:latin typeface="Helvetica Neue"/>
              </a:rPr>
              <a:t>The one that survived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is small and solid: an arithmetic reason why these fixes reach everything sharing a name.</a:t>
            </a:r>
          </a:p>
          <a:p>
            <a:pPr lvl="1">
              <a:lnSpc>
                <a:spcPct val="108000"/>
              </a:lnSpc>
              <a:spcAft>
                <a:spcPts val="500"/>
              </a:spcAft>
            </a:pPr>
            <a:r>
              <a:rPr sz="1600" b="0" i="0">
                <a:solidFill>
                  <a:srgbClr val="8A93A8"/>
                </a:solidFill>
                <a:latin typeface="Helvetica Neue"/>
              </a:rPr>
              <a:t>    –  </a:t>
            </a:r>
            <a:r>
              <a:rPr sz="1600" b="0" i="0">
                <a:solidFill>
                  <a:srgbClr val="8A93A8"/>
                </a:solidFill>
                <a:latin typeface="Helvetica Neue"/>
              </a:rPr>
              <a:t>The full record is online — every decision, every dead end, every run log. Most of it went nowhere. That is the point of publishing the list rather than the highlights.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32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5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60000" y="430000"/>
            <a:ext cx="1702000" cy="340000"/>
          </a:xfrm>
          <a:prstGeom prst="round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7C9CFF"/>
                </a:solidFill>
                <a:latin typeface="Helvetica Neue"/>
              </a:rPr>
              <a:t>§4 · WHAT I WANT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0834000" y="430000"/>
            <a:ext cx="598000" cy="340000"/>
          </a:xfrm>
          <a:prstGeom prst="roundRect">
            <a:avLst/>
          </a:prstGeom>
          <a:solidFill>
            <a:srgbClr val="161C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tIns="8000" bIns="8000" lIns="120000" rIns="120000"/>
          <a:lstStyle/>
          <a:p>
            <a:pPr algn="ctr"/>
            <a:r>
              <a:rPr sz="1200" b="1" i="0">
                <a:solidFill>
                  <a:srgbClr val="8A93A8"/>
                </a:solidFill>
                <a:latin typeface="Helvetica Neue"/>
              </a:rPr>
              <a:t>⏱ 1m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60000" y="870000"/>
            <a:ext cx="10672000" cy="9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 i="0">
                <a:solidFill>
                  <a:srgbClr val="EAECF4"/>
                </a:solidFill>
                <a:latin typeface="Helvetica Neue"/>
              </a:rPr>
              <a:t>Three things I cannot decide from inside</a:t>
            </a:r>
          </a:p>
        </p:txBody>
      </p:sp>
      <p:sp>
        <p:nvSpPr>
          <p:cNvPr id="6" name="Rectangle 5"/>
          <p:cNvSpPr/>
          <p:nvPr/>
        </p:nvSpPr>
        <p:spPr>
          <a:xfrm>
            <a:off x="760000" y="1660000"/>
            <a:ext cx="10672000" cy="15000"/>
          </a:xfrm>
          <a:prstGeom prst="rect">
            <a:avLst/>
          </a:prstGeom>
          <a:solidFill>
            <a:srgbClr val="2A32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760000" y="1636000"/>
            <a:ext cx="720000" cy="60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 b="0" i="0">
                <a:solidFill>
                  <a:srgbClr val="8A93A8"/>
                </a:solidFill>
                <a:latin typeface="Helvetica Neue"/>
              </a:rPr>
              <a:t>edit-slice · what an edit really moves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60000" y="6388000"/>
            <a:ext cx="10672000" cy="3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000" b="0" i="0">
                <a:solidFill>
                  <a:srgbClr val="8A93A8"/>
                </a:solidFill>
                <a:latin typeface="Helvetica Neue"/>
              </a:rPr>
              <a:t>09 / 09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1E25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0" y="6812000"/>
            <a:ext cx="12192000" cy="46000"/>
          </a:xfrm>
          <a:prstGeom prst="rect">
            <a:avLst/>
          </a:prstGeom>
          <a:solidFill>
            <a:srgbClr val="7C9C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0000" y="1900000"/>
            <a:ext cx="10672000" cy="439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Is the main result already known?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It is a line of arithmetic. Practitioners may simply assume it, and 'we could not find it stated' is the weakest form of a novelty claim.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Is the benchmark consequence worth a week?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 Re-scoring one published test with the names moved is the only thing here that changes what others do.</a:t>
            </a:r>
          </a:p>
          <a:p>
            <a:pPr>
              <a:lnSpc>
                <a:spcPct val="108000"/>
              </a:lnSpc>
              <a:spcAft>
                <a:spcPts val="800"/>
              </a:spcAft>
            </a:pPr>
            <a:r>
              <a:rPr sz="1800" b="0" i="0">
                <a:solidFill>
                  <a:srgbClr val="7C9CFF"/>
                </a:solidFill>
                <a:latin typeface="Helvetica Neue"/>
              </a:rPr>
              <a:t>●  </a:t>
            </a:r>
            <a:r>
              <a:rPr sz="1800" b="1" i="0">
                <a:solidFill>
                  <a:srgbClr val="EAECF4"/>
                </a:solidFill>
                <a:latin typeface="Helvetica Neue"/>
              </a:rPr>
              <a:t>Is a small, careful result publishable</a:t>
            </a:r>
            <a:r>
              <a:rPr sz="1800" b="0" i="0">
                <a:solidFill>
                  <a:srgbClr val="EAECF4"/>
                </a:solidFill>
                <a:latin typeface="Helvetica Neue"/>
              </a:rPr>
              <a:t>, or does this need the scale work it currently refuses to do?</a:t>
            </a:r>
          </a:p>
          <a:p>
            <a:pPr lvl="1">
              <a:lnSpc>
                <a:spcPct val="108000"/>
              </a:lnSpc>
              <a:spcAft>
                <a:spcPts val="500"/>
              </a:spcAft>
            </a:pPr>
            <a:r>
              <a:rPr sz="1600" b="0" i="0">
                <a:solidFill>
                  <a:srgbClr val="8A93A8"/>
                </a:solidFill>
                <a:latin typeface="Helvetica Neue"/>
              </a:rPr>
              <a:t>    –  </a:t>
            </a:r>
            <a:r>
              <a:rPr sz="1600" b="0" i="0">
                <a:solidFill>
                  <a:srgbClr val="8A93A8"/>
                </a:solidFill>
                <a:latin typeface="Helvetica Neue"/>
              </a:rPr>
              <a:t>Nine open questions are written up with what each would settle and what it costs. Which is worth a month is the judgement I would most like contradicted.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
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About 10 minutes. The audience is not a specialist: no term appears before the thing it names. Every claim traces to a record and the id is in these notes, never on the slide, so a question can be answered from the ledger live. Problems 4 and 5 are our own errors — say so plainly; they are what makes the rest credible. Deck is a backstop, not a script.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this slow. The audience needs to believe the tools are legitimate and widely used before the problems land. Do not say ROME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E-016 (the arithmetic), E-017, E-021 (causal: the name position is both sufficient and necessary). E-018: a DIFFERENT person's name gets 8%, so this really is keyed on the subject and not on everything.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E-014 then E-015. 28/42 both arms, paired difference +0.0pp, exact McNemar p=1.000; same city 84% of the time. This is the slide that changes minds — let the control land before moving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consequence in §7 of the paper, priced at about a week: re-score one published ripple benchmark with the subject moved later in the sentence. The honest position is that we have not run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E-026's RCA. The gate matched arms on 'lift on the target', which a logit nudge also achieves. E-028a then measured it: lift spans 0.17 nats across two layers and a 4x budget while real strength spans 5.70. Say plainly that this was our error before it was anyone else's.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T-079 answered DENY. E-028b matched the arms (16x step budget), E-028c found 63% difference at identical delivery, E-028d broke the layer/budget collinearity. 1.22 vs 0.41 nats of reach per nat displaced.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Table 5 of the paper. This is the most credible slide in the deck and the easiest to rush — do 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is the argument for the negative results. Do NOT let the two lists blur: a record that mixes elimination with self-inflicted cost earns credit for neither. §5.1 of the paper.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T-086. If there is one thing to take away, it is this slide. The last bullet is the sharpest fact in the project and the easiest to rush.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§7 and §8 of the paper. Ask directly; do not hedge. Silence is also feedback.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3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56000"/>
          </a:xfrm>
          <a:prstGeom prst="rect">
            <a:avLst/>
          </a:prstGeom>
          <a:solidFill>
            <a:srgbClr val="7C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0000" y="2560000"/>
            <a:ext cx="760000" cy="66000"/>
          </a:xfrm>
          <a:prstGeom prst="rect">
            <a:avLst/>
          </a:prstGeom>
          <a:solidFill>
            <a:srgbClr val="F6A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0000" y="2720000"/>
            <a:ext cx="1067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 i="0">
                <a:solidFill>
                  <a:srgbClr val="EAECF4"/>
                </a:solidFill>
                <a:latin typeface="Helvetica Neue"/>
              </a:rPr>
              <a:t>We tried to fix one fact inside an AI</a:t>
            </a:r>
          </a:p>
          <a:p>
            <a:r>
              <a:rPr sz="3800" b="1" i="0">
                <a:solidFill>
                  <a:srgbClr val="7C9CFF"/>
                </a:solidFill>
                <a:latin typeface="Helvetica Neue"/>
              </a:rPr>
              <a:t>and found out what else moves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0000" y="4480000"/>
            <a:ext cx="10672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8A93A8"/>
                </a:solidFill>
                <a:latin typeface="Helvetica Neue"/>
              </a:rPr>
              <a:t>edit-slice · what we found · 2026-09-21 · Saif Ul Islam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812000"/>
            <a:ext cx="12192000" cy="46000"/>
          </a:xfrm>
          <a:prstGeom prst="rect">
            <a:avLst/>
          </a:prstGeom>
          <a:solidFill>
            <a:srgbClr val="1E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3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56000"/>
          </a:xfrm>
          <a:prstGeom prst="rect">
            <a:avLst/>
          </a:prstGeom>
          <a:solidFill>
            <a:srgbClr val="7C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60000" y="430000"/>
            <a:ext cx="1518000" cy="340000"/>
          </a:xfrm>
          <a:prstGeom prst="roundRect">
            <a:avLst/>
          </a:prstGeom>
          <a:solidFill>
            <a:srgbClr val="1E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8000" bIns="8000" lIns="120000" rIns="120000"/>
          <a:lstStyle/>
          <a:p>
            <a:pPr algn="ctr"/>
            <a:r>
              <a:rPr sz="1200" b="1" i="0">
                <a:solidFill>
                  <a:srgbClr val="7C9CFF"/>
                </a:solidFill>
                <a:latin typeface="Helvetica Neue"/>
              </a:rPr>
              <a:t>§1 · THE SETUP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834000" y="430000"/>
            <a:ext cx="598000" cy="340000"/>
          </a:xfrm>
          <a:prstGeom prst="roundRect">
            <a:avLst/>
          </a:prstGeom>
          <a:solidFill>
            <a:srgbClr val="161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8000" bIns="8000" lIns="120000" rIns="120000"/>
          <a:lstStyle/>
          <a:p>
            <a:pPr algn="ctr"/>
            <a:r>
              <a:rPr sz="1200" b="1" i="0">
                <a:solidFill>
                  <a:srgbClr val="8A93A8"/>
                </a:solidFill>
                <a:latin typeface="Helvetica Neue"/>
              </a:rPr>
              <a:t>⏱ 1m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0000" y="870000"/>
            <a:ext cx="1067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EAECF4"/>
                </a:solidFill>
                <a:latin typeface="Helvetica Neue"/>
              </a:rPr>
              <a:t>Fixing one fact inside an AI, without retraining 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60000" y="1660000"/>
            <a:ext cx="10672000" cy="15000"/>
          </a:xfrm>
          <a:prstGeom prst="rect">
            <a:avLst/>
          </a:prstGeom>
          <a:solidFill>
            <a:srgbClr val="2A32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0000" y="1636000"/>
            <a:ext cx="720000" cy="60000"/>
          </a:xfrm>
          <a:prstGeom prst="rect">
            <a:avLst/>
          </a:prstGeom>
          <a:solidFill>
            <a:srgbClr val="7C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0000" y="6388000"/>
            <a:ext cx="10672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8A93A8"/>
                </a:solidFill>
                <a:latin typeface="Helvetica Neue"/>
              </a:rPr>
              <a:t>edit-slice · what an edit really moves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0000" y="6388000"/>
            <a:ext cx="10672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93A8"/>
                </a:solidFill>
                <a:latin typeface="Helvetica Neue"/>
              </a:rPr>
              <a:t>02 / 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812000"/>
            <a:ext cx="12192000" cy="46000"/>
          </a:xfrm>
          <a:prstGeom prst="rect">
            <a:avLst/>
          </a:prstGeom>
          <a:solidFill>
            <a:srgbClr val="1E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812000"/>
            <a:ext cx="2216727" cy="46000"/>
          </a:xfrm>
          <a:prstGeom prst="rect">
            <a:avLst/>
          </a:prstGeom>
          <a:solidFill>
            <a:srgbClr val="7C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000" y="1900000"/>
            <a:ext cx="10672000" cy="43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7C9CFF"/>
                </a:solidFill>
                <a:latin typeface="Helvetica Neue"/>
              </a:rPr>
              <a:t>●  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An AI has learned millions of facts. Some are wrong, or go out of date.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7C9CFF"/>
                </a:solidFill>
                <a:latin typeface="Helvetica Neue"/>
              </a:rPr>
              <a:t>●  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Retraining the whole thing costs a fortune — so people built tools that reach in and change </a:t>
            </a:r>
            <a:r>
              <a:rPr sz="1800" b="1" i="0">
                <a:solidFill>
                  <a:srgbClr val="EAECF4"/>
                </a:solidFill>
                <a:latin typeface="Helvetica Neue"/>
              </a:rPr>
              <a:t>just that one fact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7C9CFF"/>
                </a:solidFill>
                <a:latin typeface="Helvetica Neue"/>
              </a:rPr>
              <a:t>●  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These tools are widely used and they </a:t>
            </a:r>
            <a:r>
              <a:rPr sz="1800" b="1" i="0">
                <a:solidFill>
                  <a:srgbClr val="EAECF4"/>
                </a:solidFill>
                <a:latin typeface="Helvetica Neue"/>
              </a:rPr>
              <a:t>work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, by the measure the field uses.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7C9CFF"/>
                </a:solidFill>
                <a:latin typeface="Helvetica Neue"/>
              </a:rPr>
              <a:t>●  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Our question is the one underneath: when you fix one fact, </a:t>
            </a:r>
            <a:r>
              <a:rPr sz="1800" b="1" i="0">
                <a:solidFill>
                  <a:srgbClr val="F6A96B"/>
                </a:solidFill>
                <a:latin typeface="Helvetica Neue"/>
              </a:rPr>
              <a:t>what else moves?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3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56000"/>
          </a:xfrm>
          <a:prstGeom prst="rect">
            <a:avLst/>
          </a:prstGeom>
          <a:solidFill>
            <a:srgbClr val="7C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60000" y="430000"/>
            <a:ext cx="1518000" cy="340000"/>
          </a:xfrm>
          <a:prstGeom prst="roundRect">
            <a:avLst/>
          </a:prstGeom>
          <a:solidFill>
            <a:srgbClr val="1E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8000" bIns="8000" lIns="120000" rIns="120000"/>
          <a:lstStyle/>
          <a:p>
            <a:pPr algn="ctr"/>
            <a:r>
              <a:rPr sz="1200" b="1" i="0">
                <a:solidFill>
                  <a:srgbClr val="7C9CFF"/>
                </a:solidFill>
                <a:latin typeface="Helvetica Neue"/>
              </a:rPr>
              <a:t>§2 · PROBLEM 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834000" y="430000"/>
            <a:ext cx="598000" cy="340000"/>
          </a:xfrm>
          <a:prstGeom prst="roundRect">
            <a:avLst/>
          </a:prstGeom>
          <a:solidFill>
            <a:srgbClr val="161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8000" bIns="8000" lIns="120000" rIns="120000"/>
          <a:lstStyle/>
          <a:p>
            <a:pPr algn="ctr"/>
            <a:r>
              <a:rPr sz="1200" b="1" i="0">
                <a:solidFill>
                  <a:srgbClr val="8A93A8"/>
                </a:solidFill>
                <a:latin typeface="Helvetica Neue"/>
              </a:rPr>
              <a:t>⏱ 2m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0000" y="870000"/>
            <a:ext cx="1067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EAECF4"/>
                </a:solidFill>
                <a:latin typeface="Helvetica Neue"/>
              </a:rPr>
              <a:t>It doesn't fix a fact. It smears over a name.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60000" y="1660000"/>
            <a:ext cx="10672000" cy="15000"/>
          </a:xfrm>
          <a:prstGeom prst="rect">
            <a:avLst/>
          </a:prstGeom>
          <a:solidFill>
            <a:srgbClr val="2A32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0000" y="1636000"/>
            <a:ext cx="720000" cy="60000"/>
          </a:xfrm>
          <a:prstGeom prst="rect">
            <a:avLst/>
          </a:prstGeom>
          <a:solidFill>
            <a:srgbClr val="7C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0000" y="6388000"/>
            <a:ext cx="10672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8A93A8"/>
                </a:solidFill>
                <a:latin typeface="Helvetica Neue"/>
              </a:rPr>
              <a:t>edit-slice · what an edit really moves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0000" y="6388000"/>
            <a:ext cx="10672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93A8"/>
                </a:solidFill>
                <a:latin typeface="Helvetica Neue"/>
              </a:rPr>
              <a:t>03 / 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812000"/>
            <a:ext cx="12192000" cy="46000"/>
          </a:xfrm>
          <a:prstGeom prst="rect">
            <a:avLst/>
          </a:prstGeom>
          <a:solidFill>
            <a:srgbClr val="1E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812000"/>
            <a:ext cx="3325090" cy="46000"/>
          </a:xfrm>
          <a:prstGeom prst="rect">
            <a:avLst/>
          </a:prstGeom>
          <a:solidFill>
            <a:srgbClr val="7C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000" y="1900000"/>
            <a:ext cx="10672000" cy="43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7C9CFF"/>
                </a:solidFill>
                <a:latin typeface="Helvetica Neue"/>
              </a:rPr>
              <a:t>●  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We changed which country one person was born in.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7C9CFF"/>
                </a:solidFill>
                <a:latin typeface="Helvetica Neue"/>
              </a:rPr>
              <a:t>●  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Afterwards the AI also answered differently about their </a:t>
            </a:r>
            <a:r>
              <a:rPr sz="1800" b="1" i="0">
                <a:solidFill>
                  <a:srgbClr val="EAECF4"/>
                </a:solidFill>
                <a:latin typeface="Helvetica Neue"/>
              </a:rPr>
              <a:t>job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, their </a:t>
            </a:r>
            <a:r>
              <a:rPr sz="1800" b="1" i="0">
                <a:solidFill>
                  <a:srgbClr val="EAECF4"/>
                </a:solidFill>
                <a:latin typeface="Helvetica Neue"/>
              </a:rPr>
              <a:t>language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, their </a:t>
            </a:r>
            <a:r>
              <a:rPr sz="1800" b="1" i="0">
                <a:solidFill>
                  <a:srgbClr val="EAECF4"/>
                </a:solidFill>
                <a:latin typeface="Helvetica Neue"/>
              </a:rPr>
              <a:t>citizenship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 — things we never touched.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7C9CFF"/>
                </a:solidFill>
                <a:latin typeface="Helvetica Neue"/>
              </a:rPr>
              <a:t>●  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The pattern: anything you ask that </a:t>
            </a:r>
            <a:r>
              <a:rPr sz="1800" b="1" i="0">
                <a:solidFill>
                  <a:srgbClr val="EAECF4"/>
                </a:solidFill>
                <a:latin typeface="Helvetica Neue"/>
              </a:rPr>
              <a:t>starts with that person's name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 gets hit.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7C9CFF"/>
                </a:solidFill>
                <a:latin typeface="Helvetica Neue"/>
              </a:rPr>
              <a:t>●  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Think </a:t>
            </a:r>
            <a:r>
              <a:rPr sz="1800" b="1" i="0">
                <a:solidFill>
                  <a:srgbClr val="F58AA0"/>
                </a:solidFill>
                <a:latin typeface="Helvetica Neue"/>
              </a:rPr>
              <a:t>find-and-replace on a name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 when you meant to correct one sentence.</a:t>
            </a:r>
          </a:p>
          <a:p>
            <a:pPr lvl="1">
              <a:lnSpc>
                <a:spcPct val="108000"/>
              </a:lnSpc>
              <a:spcAft>
                <a:spcPts val="500"/>
              </a:spcAft>
            </a:pPr>
            <a:r>
              <a:rPr sz="1600" b="0" i="0">
                <a:solidFill>
                  <a:srgbClr val="8A93A8"/>
                </a:solidFill>
                <a:latin typeface="Helvetica Neue"/>
              </a:rPr>
              <a:t>    –  </a:t>
            </a:r>
            <a:r>
              <a:rPr sz="1600" b="0" i="0">
                <a:solidFill>
                  <a:srgbClr val="8A93A8"/>
                </a:solidFill>
                <a:latin typeface="Helvetica Neue"/>
              </a:rPr>
              <a:t>And not partially — at </a:t>
            </a:r>
            <a:r>
              <a:rPr sz="1600" b="1" i="0">
                <a:solidFill>
                  <a:srgbClr val="EAECF4"/>
                </a:solidFill>
                <a:latin typeface="Helvetica Neue"/>
              </a:rPr>
              <a:t>full strength</a:t>
            </a:r>
            <a:r>
              <a:rPr sz="1600" b="0" i="0">
                <a:solidFill>
                  <a:srgbClr val="8A93A8"/>
                </a:solidFill>
                <a:latin typeface="Helvetica Neue"/>
              </a:rPr>
              <a:t>, every time. It falls out of the arithmetic the tool uses, so it is not a glitch that better tuning fixes.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3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56000"/>
          </a:xfrm>
          <a:prstGeom prst="rect">
            <a:avLst/>
          </a:prstGeom>
          <a:solidFill>
            <a:srgbClr val="7C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60000" y="430000"/>
            <a:ext cx="1518000" cy="340000"/>
          </a:xfrm>
          <a:prstGeom prst="roundRect">
            <a:avLst/>
          </a:prstGeom>
          <a:solidFill>
            <a:srgbClr val="1E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8000" bIns="8000" lIns="120000" rIns="120000"/>
          <a:lstStyle/>
          <a:p>
            <a:pPr algn="ctr"/>
            <a:r>
              <a:rPr sz="1200" b="1" i="0">
                <a:solidFill>
                  <a:srgbClr val="7C9CFF"/>
                </a:solidFill>
                <a:latin typeface="Helvetica Neue"/>
              </a:rPr>
              <a:t>§2 · PROBLEM 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834000" y="430000"/>
            <a:ext cx="598000" cy="340000"/>
          </a:xfrm>
          <a:prstGeom prst="roundRect">
            <a:avLst/>
          </a:prstGeom>
          <a:solidFill>
            <a:srgbClr val="161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8000" bIns="8000" lIns="120000" rIns="120000"/>
          <a:lstStyle/>
          <a:p>
            <a:pPr algn="ctr"/>
            <a:r>
              <a:rPr sz="1200" b="1" i="0">
                <a:solidFill>
                  <a:srgbClr val="8A93A8"/>
                </a:solidFill>
                <a:latin typeface="Helvetica Neue"/>
              </a:rPr>
              <a:t>⏱ 2m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0000" y="870000"/>
            <a:ext cx="1067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EAECF4"/>
                </a:solidFill>
                <a:latin typeface="Helvetica Neue"/>
              </a:rPr>
              <a:t>What looks like the AI reasoning is the AI being overwritten</a:t>
            </a:r>
          </a:p>
        </p:txBody>
      </p:sp>
      <p:sp>
        <p:nvSpPr>
          <p:cNvPr id="6" name="Rectangle 5"/>
          <p:cNvSpPr/>
          <p:nvPr/>
        </p:nvSpPr>
        <p:spPr>
          <a:xfrm>
            <a:off x="760000" y="1660000"/>
            <a:ext cx="10672000" cy="15000"/>
          </a:xfrm>
          <a:prstGeom prst="rect">
            <a:avLst/>
          </a:prstGeom>
          <a:solidFill>
            <a:srgbClr val="2A32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0000" y="1636000"/>
            <a:ext cx="720000" cy="60000"/>
          </a:xfrm>
          <a:prstGeom prst="rect">
            <a:avLst/>
          </a:prstGeom>
          <a:solidFill>
            <a:srgbClr val="7C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0000" y="6388000"/>
            <a:ext cx="10672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8A93A8"/>
                </a:solidFill>
                <a:latin typeface="Helvetica Neue"/>
              </a:rPr>
              <a:t>edit-slice · what an edit really moves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0000" y="6388000"/>
            <a:ext cx="10672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93A8"/>
                </a:solidFill>
                <a:latin typeface="Helvetica Neue"/>
              </a:rPr>
              <a:t>04 / 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812000"/>
            <a:ext cx="12192000" cy="46000"/>
          </a:xfrm>
          <a:prstGeom prst="rect">
            <a:avLst/>
          </a:prstGeom>
          <a:solidFill>
            <a:srgbClr val="1E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812000"/>
            <a:ext cx="4433454" cy="46000"/>
          </a:xfrm>
          <a:prstGeom prst="rect">
            <a:avLst/>
          </a:prstGeom>
          <a:solidFill>
            <a:srgbClr val="7C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000" y="1900000"/>
            <a:ext cx="10672000" cy="43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7C9CFF"/>
                </a:solidFill>
                <a:latin typeface="Helvetica Neue"/>
              </a:rPr>
              <a:t>●  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We changed the </a:t>
            </a:r>
            <a:r>
              <a:rPr sz="1800" b="1" i="0">
                <a:solidFill>
                  <a:srgbClr val="EAECF4"/>
                </a:solidFill>
                <a:latin typeface="Helvetica Neue"/>
              </a:rPr>
              <a:t>country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 someone was born in. Then asked for the </a:t>
            </a:r>
            <a:r>
              <a:rPr sz="1800" b="1" i="0">
                <a:solidFill>
                  <a:srgbClr val="EAECF4"/>
                </a:solidFill>
                <a:latin typeface="Helvetica Neue"/>
              </a:rPr>
              <a:t>city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7C9CFF"/>
                </a:solidFill>
                <a:latin typeface="Helvetica Neue"/>
              </a:rPr>
              <a:t>●  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The AI named a city in the new country. </a:t>
            </a:r>
            <a:r>
              <a:rPr sz="1800" b="1" i="0">
                <a:solidFill>
                  <a:srgbClr val="6FD39A"/>
                </a:solidFill>
                <a:latin typeface="Helvetica Neue"/>
              </a:rPr>
              <a:t>That looks like thinking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 — as if it worked out that a new country means a new city.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7C9CFF"/>
                </a:solidFill>
                <a:latin typeface="Helvetica Neue"/>
              </a:rPr>
              <a:t>●  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So we tried something that should NOT work: we changed where the person </a:t>
            </a:r>
            <a:r>
              <a:rPr sz="1800" b="1" i="0">
                <a:solidFill>
                  <a:srgbClr val="EAECF4"/>
                </a:solidFill>
                <a:latin typeface="Helvetica Neue"/>
              </a:rPr>
              <a:t>works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 instead. Where you work says nothing about where you were born.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7C9CFF"/>
                </a:solidFill>
                <a:latin typeface="Helvetica Neue"/>
              </a:rPr>
              <a:t>●  </a:t>
            </a:r>
            <a:r>
              <a:rPr sz="1800" b="1" i="0">
                <a:solidFill>
                  <a:srgbClr val="F58AA0"/>
                </a:solidFill>
                <a:latin typeface="Helvetica Neue"/>
              </a:rPr>
              <a:t>The AI moved their birth city anyway. Same rate. Usually the same city.</a:t>
            </a:r>
          </a:p>
          <a:p>
            <a:pPr lvl="1">
              <a:lnSpc>
                <a:spcPct val="108000"/>
              </a:lnSpc>
              <a:spcAft>
                <a:spcPts val="500"/>
              </a:spcAft>
            </a:pPr>
            <a:r>
              <a:rPr sz="1600" b="0" i="0">
                <a:solidFill>
                  <a:srgbClr val="8A93A8"/>
                </a:solidFill>
                <a:latin typeface="Helvetica Neue"/>
              </a:rPr>
              <a:t>    –  </a:t>
            </a:r>
            <a:r>
              <a:rPr sz="1600" b="0" i="0">
                <a:solidFill>
                  <a:srgbClr val="8A93A8"/>
                </a:solidFill>
                <a:latin typeface="Helvetica Neue"/>
              </a:rPr>
              <a:t>Nothing was being figured out. The name got painted over and everything hanging off it came along.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3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56000"/>
          </a:xfrm>
          <a:prstGeom prst="rect">
            <a:avLst/>
          </a:prstGeom>
          <a:solidFill>
            <a:srgbClr val="7C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60000" y="430000"/>
            <a:ext cx="1518000" cy="340000"/>
          </a:xfrm>
          <a:prstGeom prst="roundRect">
            <a:avLst/>
          </a:prstGeom>
          <a:solidFill>
            <a:srgbClr val="1E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8000" bIns="8000" lIns="120000" rIns="120000"/>
          <a:lstStyle/>
          <a:p>
            <a:pPr algn="ctr"/>
            <a:r>
              <a:rPr sz="1200" b="1" i="0">
                <a:solidFill>
                  <a:srgbClr val="7C9CFF"/>
                </a:solidFill>
                <a:latin typeface="Helvetica Neue"/>
              </a:rPr>
              <a:t>§2 · PROBLEM 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834000" y="430000"/>
            <a:ext cx="598000" cy="340000"/>
          </a:xfrm>
          <a:prstGeom prst="roundRect">
            <a:avLst/>
          </a:prstGeom>
          <a:solidFill>
            <a:srgbClr val="161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8000" bIns="8000" lIns="120000" rIns="120000"/>
          <a:lstStyle/>
          <a:p>
            <a:pPr algn="ctr"/>
            <a:r>
              <a:rPr sz="1200" b="1" i="0">
                <a:solidFill>
                  <a:srgbClr val="8A93A8"/>
                </a:solidFill>
                <a:latin typeface="Helvetica Neue"/>
              </a:rPr>
              <a:t>⏱ 2m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0000" y="870000"/>
            <a:ext cx="1067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EAECF4"/>
                </a:solidFill>
                <a:latin typeface="Helvetica Neue"/>
              </a:rPr>
              <a:t>The tests used to check this may be graded on the glitch</a:t>
            </a:r>
          </a:p>
        </p:txBody>
      </p:sp>
      <p:sp>
        <p:nvSpPr>
          <p:cNvPr id="6" name="Rectangle 5"/>
          <p:cNvSpPr/>
          <p:nvPr/>
        </p:nvSpPr>
        <p:spPr>
          <a:xfrm>
            <a:off x="760000" y="1660000"/>
            <a:ext cx="10672000" cy="15000"/>
          </a:xfrm>
          <a:prstGeom prst="rect">
            <a:avLst/>
          </a:prstGeom>
          <a:solidFill>
            <a:srgbClr val="2A32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0000" y="1636000"/>
            <a:ext cx="720000" cy="60000"/>
          </a:xfrm>
          <a:prstGeom prst="rect">
            <a:avLst/>
          </a:prstGeom>
          <a:solidFill>
            <a:srgbClr val="7C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0000" y="6388000"/>
            <a:ext cx="10672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8A93A8"/>
                </a:solidFill>
                <a:latin typeface="Helvetica Neue"/>
              </a:rPr>
              <a:t>edit-slice · what an edit really moves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0000" y="6388000"/>
            <a:ext cx="10672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93A8"/>
                </a:solidFill>
                <a:latin typeface="Helvetica Neue"/>
              </a:rPr>
              <a:t>05 / 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812000"/>
            <a:ext cx="12192000" cy="46000"/>
          </a:xfrm>
          <a:prstGeom prst="rect">
            <a:avLst/>
          </a:prstGeom>
          <a:solidFill>
            <a:srgbClr val="1E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812000"/>
            <a:ext cx="5541818" cy="46000"/>
          </a:xfrm>
          <a:prstGeom prst="rect">
            <a:avLst/>
          </a:prstGeom>
          <a:solidFill>
            <a:srgbClr val="7C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000" y="1900000"/>
            <a:ext cx="10672000" cy="43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7C9CFF"/>
                </a:solidFill>
                <a:latin typeface="Helvetica Neue"/>
              </a:rPr>
              <a:t>●  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The standard way to check whether a fix 'spread sensibly' is to ask follow-up questions.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7C9CFF"/>
                </a:solidFill>
                <a:latin typeface="Helvetica Neue"/>
              </a:rPr>
              <a:t>●  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Almost all of those questions </a:t>
            </a:r>
            <a:r>
              <a:rPr sz="1800" b="1" i="0">
                <a:solidFill>
                  <a:srgbClr val="EAECF4"/>
                </a:solidFill>
                <a:latin typeface="Helvetica Neue"/>
              </a:rPr>
              <a:t>start with the person's name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7C9CFF"/>
                </a:solidFill>
                <a:latin typeface="Helvetica Neue"/>
              </a:rPr>
              <a:t>●  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But that is exactly the case that breaks — the one that gets the fix at full strength automatically.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7C9CFF"/>
                </a:solidFill>
                <a:latin typeface="Helvetica Neue"/>
              </a:rPr>
              <a:t>●  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So a test may be measuring the glitch and </a:t>
            </a:r>
            <a:r>
              <a:rPr sz="1800" b="1" i="0">
                <a:solidFill>
                  <a:srgbClr val="F6A96B"/>
                </a:solidFill>
                <a:latin typeface="Helvetica Neue"/>
              </a:rPr>
              <a:t>scoring it as intelligence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.</a:t>
            </a:r>
          </a:p>
          <a:p>
            <a:pPr lvl="1">
              <a:lnSpc>
                <a:spcPct val="108000"/>
              </a:lnSpc>
              <a:spcAft>
                <a:spcPts val="500"/>
              </a:spcAft>
            </a:pPr>
            <a:r>
              <a:rPr sz="1600" b="0" i="0">
                <a:solidFill>
                  <a:srgbClr val="8A93A8"/>
                </a:solidFill>
                <a:latin typeface="Helvetica Neue"/>
              </a:rPr>
              <a:t>    –  </a:t>
            </a:r>
            <a:r>
              <a:rPr sz="1600" b="0" i="0">
                <a:solidFill>
                  <a:srgbClr val="8A93A8"/>
                </a:solidFill>
                <a:latin typeface="Helvetica Neue"/>
              </a:rPr>
              <a:t>Nobody did this on purpose. It is just how the questions happen to be worded. We cannot yet say how much of it is affected — and that is the thing we would most like someone to check.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3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56000"/>
          </a:xfrm>
          <a:prstGeom prst="rect">
            <a:avLst/>
          </a:prstGeom>
          <a:solidFill>
            <a:srgbClr val="7C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60000" y="430000"/>
            <a:ext cx="1518000" cy="340000"/>
          </a:xfrm>
          <a:prstGeom prst="roundRect">
            <a:avLst/>
          </a:prstGeom>
          <a:solidFill>
            <a:srgbClr val="1E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8000" bIns="8000" lIns="120000" rIns="120000"/>
          <a:lstStyle/>
          <a:p>
            <a:pPr algn="ctr"/>
            <a:r>
              <a:rPr sz="1200" b="1" i="0">
                <a:solidFill>
                  <a:srgbClr val="7C9CFF"/>
                </a:solidFill>
                <a:latin typeface="Helvetica Neue"/>
              </a:rPr>
              <a:t>§2 · PROBLEM 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834000" y="430000"/>
            <a:ext cx="598000" cy="340000"/>
          </a:xfrm>
          <a:prstGeom prst="roundRect">
            <a:avLst/>
          </a:prstGeom>
          <a:solidFill>
            <a:srgbClr val="161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8000" bIns="8000" lIns="120000" rIns="120000"/>
          <a:lstStyle/>
          <a:p>
            <a:pPr algn="ctr"/>
            <a:r>
              <a:rPr sz="1200" b="1" i="0">
                <a:solidFill>
                  <a:srgbClr val="8A93A8"/>
                </a:solidFill>
                <a:latin typeface="Helvetica Neue"/>
              </a:rPr>
              <a:t>⏱ 1m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0000" y="870000"/>
            <a:ext cx="1067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EAECF4"/>
                </a:solidFill>
                <a:latin typeface="Helvetica Neue"/>
              </a:rPr>
              <a:t>The standard 'did it work?' check is too easy to pass</a:t>
            </a:r>
          </a:p>
        </p:txBody>
      </p:sp>
      <p:sp>
        <p:nvSpPr>
          <p:cNvPr id="6" name="Rectangle 5"/>
          <p:cNvSpPr/>
          <p:nvPr/>
        </p:nvSpPr>
        <p:spPr>
          <a:xfrm>
            <a:off x="760000" y="1660000"/>
            <a:ext cx="10672000" cy="15000"/>
          </a:xfrm>
          <a:prstGeom prst="rect">
            <a:avLst/>
          </a:prstGeom>
          <a:solidFill>
            <a:srgbClr val="2A32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0000" y="1636000"/>
            <a:ext cx="720000" cy="60000"/>
          </a:xfrm>
          <a:prstGeom prst="rect">
            <a:avLst/>
          </a:prstGeom>
          <a:solidFill>
            <a:srgbClr val="7C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0000" y="6388000"/>
            <a:ext cx="10672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8A93A8"/>
                </a:solidFill>
                <a:latin typeface="Helvetica Neue"/>
              </a:rPr>
              <a:t>edit-slice · what an edit really moves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0000" y="6388000"/>
            <a:ext cx="10672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93A8"/>
                </a:solidFill>
                <a:latin typeface="Helvetica Neue"/>
              </a:rPr>
              <a:t>06 / 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812000"/>
            <a:ext cx="12192000" cy="46000"/>
          </a:xfrm>
          <a:prstGeom prst="rect">
            <a:avLst/>
          </a:prstGeom>
          <a:solidFill>
            <a:srgbClr val="1E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812000"/>
            <a:ext cx="6650181" cy="46000"/>
          </a:xfrm>
          <a:prstGeom prst="rect">
            <a:avLst/>
          </a:prstGeom>
          <a:solidFill>
            <a:srgbClr val="7C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000" y="1900000"/>
            <a:ext cx="10672000" cy="43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7C9CFF"/>
                </a:solidFill>
                <a:latin typeface="Helvetica Neue"/>
              </a:rPr>
              <a:t>●  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The usual check asks only: does the </a:t>
            </a:r>
            <a:r>
              <a:rPr sz="1800" b="1" i="0">
                <a:solidFill>
                  <a:srgbClr val="EAECF4"/>
                </a:solidFill>
                <a:latin typeface="Helvetica Neue"/>
              </a:rPr>
              <a:t>new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 answer now beat the </a:t>
            </a:r>
            <a:r>
              <a:rPr sz="1800" b="1" i="0">
                <a:solidFill>
                  <a:srgbClr val="EAECF4"/>
                </a:solidFill>
                <a:latin typeface="Helvetica Neue"/>
              </a:rPr>
              <a:t>old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 one?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7C9CFF"/>
                </a:solidFill>
                <a:latin typeface="Helvetica Neue"/>
              </a:rPr>
              <a:t>●  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A fix can pass that while barely changing what the AI actually believes.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7C9CFF"/>
                </a:solidFill>
                <a:latin typeface="Helvetica Neue"/>
              </a:rPr>
              <a:t>●  </a:t>
            </a:r>
            <a:r>
              <a:rPr sz="1800" b="1" i="0">
                <a:solidFill>
                  <a:srgbClr val="F58AA0"/>
                </a:solidFill>
                <a:latin typeface="Helvetica Neue"/>
              </a:rPr>
              <a:t>We know because we fell for it ourselves.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 We built a safety check on that idea, it gave us a green light, and it was worthless.</a:t>
            </a:r>
          </a:p>
          <a:p>
            <a:pPr lvl="1">
              <a:lnSpc>
                <a:spcPct val="108000"/>
              </a:lnSpc>
              <a:spcAft>
                <a:spcPts val="500"/>
              </a:spcAft>
            </a:pPr>
            <a:r>
              <a:rPr sz="1600" b="0" i="0">
                <a:solidFill>
                  <a:srgbClr val="8A93A8"/>
                </a:solidFill>
                <a:latin typeface="Helvetica Neue"/>
              </a:rPr>
              <a:t>    –  </a:t>
            </a:r>
            <a:r>
              <a:rPr sz="1600" b="0" i="0">
                <a:solidFill>
                  <a:srgbClr val="8A93A8"/>
                </a:solidFill>
                <a:latin typeface="Helvetica Neue"/>
              </a:rPr>
              <a:t>We had to throw out a result and redo the work three times to get it honestly.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3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56000"/>
          </a:xfrm>
          <a:prstGeom prst="rect">
            <a:avLst/>
          </a:prstGeom>
          <a:solidFill>
            <a:srgbClr val="7C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60000" y="430000"/>
            <a:ext cx="1518000" cy="340000"/>
          </a:xfrm>
          <a:prstGeom prst="roundRect">
            <a:avLst/>
          </a:prstGeom>
          <a:solidFill>
            <a:srgbClr val="1E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8000" bIns="8000" lIns="120000" rIns="120000"/>
          <a:lstStyle/>
          <a:p>
            <a:pPr algn="ctr"/>
            <a:r>
              <a:rPr sz="1200" b="1" i="0">
                <a:solidFill>
                  <a:srgbClr val="7C9CFF"/>
                </a:solidFill>
                <a:latin typeface="Helvetica Neue"/>
              </a:rPr>
              <a:t>§2 · PROBLEM 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834000" y="430000"/>
            <a:ext cx="598000" cy="340000"/>
          </a:xfrm>
          <a:prstGeom prst="roundRect">
            <a:avLst/>
          </a:prstGeom>
          <a:solidFill>
            <a:srgbClr val="161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8000" bIns="8000" lIns="120000" rIns="120000"/>
          <a:lstStyle/>
          <a:p>
            <a:pPr algn="ctr"/>
            <a:r>
              <a:rPr sz="1200" b="1" i="0">
                <a:solidFill>
                  <a:srgbClr val="8A93A8"/>
                </a:solidFill>
                <a:latin typeface="Helvetica Neue"/>
              </a:rPr>
              <a:t>⏱ 1m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0000" y="870000"/>
            <a:ext cx="1067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EAECF4"/>
                </a:solidFill>
                <a:latin typeface="Helvetica Neue"/>
              </a:rPr>
              <a:t>Our own best idea was wrong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60000" y="1660000"/>
            <a:ext cx="10672000" cy="15000"/>
          </a:xfrm>
          <a:prstGeom prst="rect">
            <a:avLst/>
          </a:prstGeom>
          <a:solidFill>
            <a:srgbClr val="2A32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0000" y="1636000"/>
            <a:ext cx="720000" cy="60000"/>
          </a:xfrm>
          <a:prstGeom prst="rect">
            <a:avLst/>
          </a:prstGeom>
          <a:solidFill>
            <a:srgbClr val="7C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0000" y="6388000"/>
            <a:ext cx="10672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8A93A8"/>
                </a:solidFill>
                <a:latin typeface="Helvetica Neue"/>
              </a:rPr>
              <a:t>edit-slice · what an edit really moves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0000" y="6388000"/>
            <a:ext cx="10672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93A8"/>
                </a:solidFill>
                <a:latin typeface="Helvetica Neue"/>
              </a:rPr>
              <a:t>07 / 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812000"/>
            <a:ext cx="12192000" cy="46000"/>
          </a:xfrm>
          <a:prstGeom prst="rect">
            <a:avLst/>
          </a:prstGeom>
          <a:solidFill>
            <a:srgbClr val="1E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812000"/>
            <a:ext cx="7758545" cy="46000"/>
          </a:xfrm>
          <a:prstGeom prst="rect">
            <a:avLst/>
          </a:prstGeom>
          <a:solidFill>
            <a:srgbClr val="7C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000" y="1900000"/>
            <a:ext cx="10672000" cy="43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7C9CFF"/>
                </a:solidFill>
                <a:latin typeface="Helvetica Neue"/>
              </a:rPr>
              <a:t>●  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We could measure exactly </a:t>
            </a:r>
            <a:r>
              <a:rPr sz="1800" b="1" i="0">
                <a:solidFill>
                  <a:srgbClr val="EAECF4"/>
                </a:solidFill>
                <a:latin typeface="Helvetica Neue"/>
              </a:rPr>
              <a:t>how much of a fix arrives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 at any given question — cheaply, without running the damaged AI.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7C9CFF"/>
                </a:solidFill>
                <a:latin typeface="Helvetica Neue"/>
              </a:rPr>
              <a:t>●  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That looked like a way to predict harm before paying for it.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7C9CFF"/>
                </a:solidFill>
                <a:latin typeface="Helvetica Neue"/>
              </a:rPr>
              <a:t>●  </a:t>
            </a:r>
            <a:r>
              <a:rPr sz="1800" b="1" i="0">
                <a:solidFill>
                  <a:srgbClr val="F58AA0"/>
                </a:solidFill>
                <a:latin typeface="Helvetica Neue"/>
              </a:rPr>
              <a:t>It does not predict harm.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 Same amount arriving, </a:t>
            </a:r>
            <a:r>
              <a:rPr sz="1800" b="1" i="0">
                <a:solidFill>
                  <a:srgbClr val="EAECF4"/>
                </a:solidFill>
                <a:latin typeface="Helvetica Neue"/>
              </a:rPr>
              <a:t>three times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 the damage, depending only on where in the AI you make the change.</a:t>
            </a:r>
          </a:p>
          <a:p>
            <a:pPr lvl="1">
              <a:lnSpc>
                <a:spcPct val="108000"/>
              </a:lnSpc>
              <a:spcAft>
                <a:spcPts val="500"/>
              </a:spcAft>
            </a:pPr>
            <a:r>
              <a:rPr sz="1600" b="0" i="0">
                <a:solidFill>
                  <a:srgbClr val="8A93A8"/>
                </a:solidFill>
                <a:latin typeface="Helvetica Neue"/>
              </a:rPr>
              <a:t>    –  </a:t>
            </a:r>
            <a:r>
              <a:rPr sz="1600" b="0" i="0">
                <a:solidFill>
                  <a:srgbClr val="8A93A8"/>
                </a:solidFill>
                <a:latin typeface="Helvetica Neue"/>
              </a:rPr>
              <a:t>We checked this four separate ways before believing it, because it cost us the most attractive thing we had.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3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56000"/>
          </a:xfrm>
          <a:prstGeom prst="rect">
            <a:avLst/>
          </a:prstGeom>
          <a:solidFill>
            <a:srgbClr val="7C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60000" y="430000"/>
            <a:ext cx="1610000" cy="340000"/>
          </a:xfrm>
          <a:prstGeom prst="roundRect">
            <a:avLst/>
          </a:prstGeom>
          <a:solidFill>
            <a:srgbClr val="1E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8000" bIns="8000" lIns="120000" rIns="120000"/>
          <a:lstStyle/>
          <a:p>
            <a:pPr algn="ctr"/>
            <a:r>
              <a:rPr sz="1200" b="1" i="0">
                <a:solidFill>
                  <a:srgbClr val="7C9CFF"/>
                </a:solidFill>
                <a:latin typeface="Helvetica Neue"/>
              </a:rPr>
              <a:t>§3 · THE RECORD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834000" y="430000"/>
            <a:ext cx="598000" cy="340000"/>
          </a:xfrm>
          <a:prstGeom prst="roundRect">
            <a:avLst/>
          </a:prstGeom>
          <a:solidFill>
            <a:srgbClr val="161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8000" bIns="8000" lIns="120000" rIns="120000"/>
          <a:lstStyle/>
          <a:p>
            <a:pPr algn="ctr"/>
            <a:r>
              <a:rPr sz="1200" b="1" i="0">
                <a:solidFill>
                  <a:srgbClr val="8A93A8"/>
                </a:solidFill>
                <a:latin typeface="Helvetica Neue"/>
              </a:rPr>
              <a:t>⏱ 1m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0000" y="870000"/>
            <a:ext cx="1067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EAECF4"/>
                </a:solidFill>
                <a:latin typeface="Helvetica Neue"/>
              </a:rPr>
              <a:t>Eleven claims. Eight withdrawn or narrowed.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760000" y="1660000"/>
            <a:ext cx="10672000" cy="15000"/>
          </a:xfrm>
          <a:prstGeom prst="rect">
            <a:avLst/>
          </a:prstGeom>
          <a:solidFill>
            <a:srgbClr val="2A32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0000" y="1636000"/>
            <a:ext cx="720000" cy="60000"/>
          </a:xfrm>
          <a:prstGeom prst="rect">
            <a:avLst/>
          </a:prstGeom>
          <a:solidFill>
            <a:srgbClr val="7C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0000" y="6388000"/>
            <a:ext cx="10672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8A93A8"/>
                </a:solidFill>
                <a:latin typeface="Helvetica Neue"/>
              </a:rPr>
              <a:t>edit-slice · what an edit really moves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0000" y="6388000"/>
            <a:ext cx="10672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93A8"/>
                </a:solidFill>
                <a:latin typeface="Helvetica Neue"/>
              </a:rPr>
              <a:t>08 / 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812000"/>
            <a:ext cx="12192000" cy="46000"/>
          </a:xfrm>
          <a:prstGeom prst="rect">
            <a:avLst/>
          </a:prstGeom>
          <a:solidFill>
            <a:srgbClr val="1E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812000"/>
            <a:ext cx="8866909" cy="46000"/>
          </a:xfrm>
          <a:prstGeom prst="rect">
            <a:avLst/>
          </a:prstGeom>
          <a:solidFill>
            <a:srgbClr val="7C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000" y="1900000"/>
            <a:ext cx="10672000" cy="43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7C9CFF"/>
                </a:solidFill>
                <a:latin typeface="Helvetica Neue"/>
              </a:rPr>
              <a:t>●  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Most of what we learned is what </a:t>
            </a:r>
            <a:r>
              <a:rPr sz="1800" b="1" i="0">
                <a:solidFill>
                  <a:srgbClr val="EAECF4"/>
                </a:solidFill>
                <a:latin typeface="Helvetica Neue"/>
              </a:rPr>
              <a:t>does not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 work.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7C9CFF"/>
                </a:solidFill>
                <a:latin typeface="Helvetica Neue"/>
              </a:rPr>
              <a:t>●  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Every withdrawn claim is published with what killed it — including the ones we withdrew after writing them up.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7C9CFF"/>
                </a:solidFill>
                <a:latin typeface="Helvetica Neue"/>
              </a:rPr>
              <a:t>●  </a:t>
            </a:r>
            <a:r>
              <a:rPr sz="1800" b="1" i="0">
                <a:solidFill>
                  <a:srgbClr val="6FD39A"/>
                </a:solidFill>
                <a:latin typeface="Helvetica Neue"/>
              </a:rPr>
              <a:t>The one that survived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 is small and solid: an arithmetic reason why these fixes reach everything sharing a name.</a:t>
            </a:r>
          </a:p>
          <a:p>
            <a:pPr lvl="1">
              <a:lnSpc>
                <a:spcPct val="108000"/>
              </a:lnSpc>
              <a:spcAft>
                <a:spcPts val="500"/>
              </a:spcAft>
            </a:pPr>
            <a:r>
              <a:rPr sz="1600" b="0" i="0">
                <a:solidFill>
                  <a:srgbClr val="8A93A8"/>
                </a:solidFill>
                <a:latin typeface="Helvetica Neue"/>
              </a:rPr>
              <a:t>    –  </a:t>
            </a:r>
            <a:r>
              <a:rPr sz="1600" b="0" i="0">
                <a:solidFill>
                  <a:srgbClr val="8A93A8"/>
                </a:solidFill>
                <a:latin typeface="Helvetica Neue"/>
              </a:rPr>
              <a:t>The full record is online — every decision, every dead end, every run log. Most of it went nowhere. That is the point of publishing the list rather than the highlights.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3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56000"/>
          </a:xfrm>
          <a:prstGeom prst="rect">
            <a:avLst/>
          </a:prstGeom>
          <a:solidFill>
            <a:srgbClr val="7C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60000" y="430000"/>
            <a:ext cx="1794000" cy="340000"/>
          </a:xfrm>
          <a:prstGeom prst="roundRect">
            <a:avLst/>
          </a:prstGeom>
          <a:solidFill>
            <a:srgbClr val="1E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8000" bIns="8000" lIns="120000" rIns="120000"/>
          <a:lstStyle/>
          <a:p>
            <a:pPr algn="ctr"/>
            <a:r>
              <a:rPr sz="1200" b="1" i="0">
                <a:solidFill>
                  <a:srgbClr val="7C9CFF"/>
                </a:solidFill>
                <a:latin typeface="Helvetica Neue"/>
              </a:rPr>
              <a:t>§3 · THE BOUNDARY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834000" y="430000"/>
            <a:ext cx="598000" cy="340000"/>
          </a:xfrm>
          <a:prstGeom prst="roundRect">
            <a:avLst/>
          </a:prstGeom>
          <a:solidFill>
            <a:srgbClr val="161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8000" bIns="8000" lIns="120000" rIns="120000"/>
          <a:lstStyle/>
          <a:p>
            <a:pPr algn="ctr"/>
            <a:r>
              <a:rPr sz="1200" b="1" i="0">
                <a:solidFill>
                  <a:srgbClr val="8A93A8"/>
                </a:solidFill>
                <a:latin typeface="Helvetica Neue"/>
              </a:rPr>
              <a:t>⏱ 1m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0000" y="870000"/>
            <a:ext cx="1067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EAECF4"/>
                </a:solidFill>
                <a:latin typeface="Helvetica Neue"/>
              </a:rPr>
              <a:t>What the failures rule out — and what is left standing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60000" y="1660000"/>
            <a:ext cx="10672000" cy="15000"/>
          </a:xfrm>
          <a:prstGeom prst="rect">
            <a:avLst/>
          </a:prstGeom>
          <a:solidFill>
            <a:srgbClr val="2A32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0000" y="1636000"/>
            <a:ext cx="720000" cy="60000"/>
          </a:xfrm>
          <a:prstGeom prst="rect">
            <a:avLst/>
          </a:prstGeom>
          <a:solidFill>
            <a:srgbClr val="7C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0000" y="6388000"/>
            <a:ext cx="10672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8A93A8"/>
                </a:solidFill>
                <a:latin typeface="Helvetica Neue"/>
              </a:rPr>
              <a:t>edit-slice · what an edit really moves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0000" y="6388000"/>
            <a:ext cx="10672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93A8"/>
                </a:solidFill>
                <a:latin typeface="Helvetica Neue"/>
              </a:rPr>
              <a:t>09 / 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812000"/>
            <a:ext cx="12192000" cy="46000"/>
          </a:xfrm>
          <a:prstGeom prst="rect">
            <a:avLst/>
          </a:prstGeom>
          <a:solidFill>
            <a:srgbClr val="1E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812000"/>
            <a:ext cx="9975272" cy="46000"/>
          </a:xfrm>
          <a:prstGeom prst="rect">
            <a:avLst/>
          </a:prstGeom>
          <a:solidFill>
            <a:srgbClr val="7C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000" y="1900000"/>
            <a:ext cx="10672000" cy="43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7C9CFF"/>
                </a:solidFill>
                <a:latin typeface="Helvetica Neue"/>
              </a:rPr>
              <a:t>●  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Most of this is things that did not work. That counts for something only if we separate </a:t>
            </a:r>
            <a:r>
              <a:rPr sz="1800" b="1" i="0">
                <a:solidFill>
                  <a:srgbClr val="EAECF4"/>
                </a:solidFill>
                <a:latin typeface="Helvetica Neue"/>
              </a:rPr>
              <a:t>what is ruled out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 from </a:t>
            </a:r>
            <a:r>
              <a:rPr sz="1800" b="1" i="0">
                <a:solidFill>
                  <a:srgbClr val="EAECF4"/>
                </a:solidFill>
                <a:latin typeface="Helvetica Neue"/>
              </a:rPr>
              <a:t>what we simply got wrong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7C9CFF"/>
                </a:solidFill>
                <a:latin typeface="Helvetica Neue"/>
              </a:rPr>
              <a:t>●  </a:t>
            </a:r>
            <a:r>
              <a:rPr sz="1800" b="1" i="0">
                <a:solidFill>
                  <a:srgbClr val="6FD39A"/>
                </a:solidFill>
                <a:latin typeface="Helvetica Neue"/>
              </a:rPr>
              <a:t>Ruled out, for anyone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 — you cannot tell how much damage an edit does from how much of it arrives; an edit does not blur everything about a person equally; the standard 'did it work' score is not hiding anything.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7C9CFF"/>
                </a:solidFill>
                <a:latin typeface="Helvetica Neue"/>
              </a:rPr>
              <a:t>●  </a:t>
            </a:r>
            <a:r>
              <a:rPr sz="1800" b="1" i="0">
                <a:solidFill>
                  <a:srgbClr val="F58AA0"/>
                </a:solidFill>
                <a:latin typeface="Helvetica Neue"/>
              </a:rPr>
              <a:t>Just our mistakes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 — a safety check on the wrong quantity, a test that could not detect its own target, a file that reported half a run as whole. In the record because they are why the rest can be trusted. Not findings.</a:t>
            </a:r>
          </a:p>
          <a:p>
            <a:pPr lvl="1">
              <a:lnSpc>
                <a:spcPct val="108000"/>
              </a:lnSpc>
              <a:spcAft>
                <a:spcPts val="500"/>
              </a:spcAft>
            </a:pPr>
            <a:r>
              <a:rPr sz="1600" b="0" i="0">
                <a:solidFill>
                  <a:srgbClr val="8A93A8"/>
                </a:solidFill>
                <a:latin typeface="Helvetica Neue"/>
              </a:rPr>
              <a:t>    –  </a:t>
            </a:r>
            <a:r>
              <a:rPr sz="1600" b="0" i="0">
                <a:solidFill>
                  <a:srgbClr val="8A93A8"/>
                </a:solidFill>
                <a:latin typeface="Helvetica Neue"/>
              </a:rPr>
              <a:t>Put the eliminations together and a boundary falls out — the clearest thing this project knows.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3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56000"/>
          </a:xfrm>
          <a:prstGeom prst="rect">
            <a:avLst/>
          </a:prstGeom>
          <a:solidFill>
            <a:srgbClr val="7C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60000" y="430000"/>
            <a:ext cx="1794000" cy="340000"/>
          </a:xfrm>
          <a:prstGeom prst="roundRect">
            <a:avLst/>
          </a:prstGeom>
          <a:solidFill>
            <a:srgbClr val="1E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8000" bIns="8000" lIns="120000" rIns="120000"/>
          <a:lstStyle/>
          <a:p>
            <a:pPr algn="ctr"/>
            <a:r>
              <a:rPr sz="1200" b="1" i="0">
                <a:solidFill>
                  <a:srgbClr val="7C9CFF"/>
                </a:solidFill>
                <a:latin typeface="Helvetica Neue"/>
              </a:rPr>
              <a:t>§3 · THE BOUNDARY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834000" y="430000"/>
            <a:ext cx="598000" cy="340000"/>
          </a:xfrm>
          <a:prstGeom prst="roundRect">
            <a:avLst/>
          </a:prstGeom>
          <a:solidFill>
            <a:srgbClr val="161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8000" bIns="8000" lIns="120000" rIns="120000"/>
          <a:lstStyle/>
          <a:p>
            <a:pPr algn="ctr"/>
            <a:r>
              <a:rPr sz="1200" b="1" i="0">
                <a:solidFill>
                  <a:srgbClr val="8A93A8"/>
                </a:solidFill>
                <a:latin typeface="Helvetica Neue"/>
              </a:rPr>
              <a:t>⏱ 1m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0000" y="870000"/>
            <a:ext cx="1067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EAECF4"/>
                </a:solidFill>
                <a:latin typeface="Helvetica Neue"/>
              </a:rPr>
              <a:t>We can say WHICH facts an edit touches. Not how hard.</a:t>
            </a:r>
          </a:p>
        </p:txBody>
      </p:sp>
      <p:sp>
        <p:nvSpPr>
          <p:cNvPr id="6" name="Rectangle 5"/>
          <p:cNvSpPr/>
          <p:nvPr/>
        </p:nvSpPr>
        <p:spPr>
          <a:xfrm>
            <a:off x="760000" y="1660000"/>
            <a:ext cx="10672000" cy="15000"/>
          </a:xfrm>
          <a:prstGeom prst="rect">
            <a:avLst/>
          </a:prstGeom>
          <a:solidFill>
            <a:srgbClr val="2A32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0000" y="1636000"/>
            <a:ext cx="720000" cy="60000"/>
          </a:xfrm>
          <a:prstGeom prst="rect">
            <a:avLst/>
          </a:prstGeom>
          <a:solidFill>
            <a:srgbClr val="7C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0000" y="6388000"/>
            <a:ext cx="10672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8A93A8"/>
                </a:solidFill>
                <a:latin typeface="Helvetica Neue"/>
              </a:rPr>
              <a:t>edit-slice · what an edit really moves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0000" y="6388000"/>
            <a:ext cx="10672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93A8"/>
                </a:solidFill>
                <a:latin typeface="Helvetica Neue"/>
              </a:rPr>
              <a:t>10 / 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812000"/>
            <a:ext cx="12192000" cy="46000"/>
          </a:xfrm>
          <a:prstGeom prst="rect">
            <a:avLst/>
          </a:prstGeom>
          <a:solidFill>
            <a:srgbClr val="1E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812000"/>
            <a:ext cx="11083636" cy="46000"/>
          </a:xfrm>
          <a:prstGeom prst="rect">
            <a:avLst/>
          </a:prstGeom>
          <a:solidFill>
            <a:srgbClr val="7C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000" y="2650000"/>
            <a:ext cx="1067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0" i="0">
                <a:solidFill>
                  <a:srgbClr val="EAECF4"/>
                </a:solidFill>
                <a:latin typeface="Helvetica Neue"/>
              </a:rPr>
              <a:t>which — yes.   how hard — no.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0000" y="1900000"/>
            <a:ext cx="10672000" cy="43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7C9CFF"/>
                </a:solidFill>
                <a:latin typeface="Helvetica Neue"/>
              </a:rPr>
              <a:t>●  </a:t>
            </a:r>
            <a:r>
              <a:rPr sz="1800" b="1" i="0">
                <a:solidFill>
                  <a:srgbClr val="6FD39A"/>
                </a:solidFill>
                <a:latin typeface="Helvetica Neue"/>
              </a:rPr>
              <a:t>WHICH is settled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 — cheaply, exactly, at every size from 6B to 405B. And the probe hit hardest is the one whose answer is the same </a:t>
            </a:r>
            <a:r>
              <a:rPr sz="1800" b="1" i="0">
                <a:solidFill>
                  <a:srgbClr val="EAECF4"/>
                </a:solidFill>
                <a:latin typeface="Helvetica Neue"/>
              </a:rPr>
              <a:t>kind of thing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 as what was injected. Six cases out of six.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7C9CFF"/>
                </a:solidFill>
                <a:latin typeface="Helvetica Neue"/>
              </a:rPr>
              <a:t>●  </a:t>
            </a:r>
            <a:r>
              <a:rPr sz="1800" b="1" i="0">
                <a:solidFill>
                  <a:srgbClr val="F58AA0"/>
                </a:solidFill>
                <a:latin typeface="Helvetica Neue"/>
              </a:rPr>
              <a:t>HOW HARD is open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 — nothing we have predicts it. The two best candidates explain about a fifth of the variation each.</a:t>
            </a:r>
          </a:p>
          <a:p>
            <a:pPr lvl="1">
              <a:lnSpc>
                <a:spcPct val="108000"/>
              </a:lnSpc>
              <a:spcAft>
                <a:spcPts val="500"/>
              </a:spcAft>
            </a:pPr>
            <a:r>
              <a:rPr sz="1600" b="0" i="0">
                <a:solidFill>
                  <a:srgbClr val="8A93A8"/>
                </a:solidFill>
                <a:latin typeface="Helvetica Neue"/>
              </a:rPr>
              <a:t>    –  </a:t>
            </a:r>
            <a:r>
              <a:rPr sz="1600" b="0" i="0">
                <a:solidFill>
                  <a:srgbClr val="8A93A8"/>
                </a:solidFill>
                <a:latin typeface="Helvetica Neue"/>
              </a:rPr>
              <a:t>And the measurement this whole project is built on cannot help: it has </a:t>
            </a:r>
            <a:r>
              <a:rPr sz="1600" b="1" i="0">
                <a:solidFill>
                  <a:srgbClr val="EAECF4"/>
                </a:solidFill>
                <a:latin typeface="Helvetica Neue"/>
              </a:rPr>
              <a:t>exactly the same value</a:t>
            </a:r>
            <a:r>
              <a:rPr sz="1600" b="0" i="0">
                <a:solidFill>
                  <a:srgbClr val="8A93A8"/>
                </a:solidFill>
                <a:latin typeface="Helvetica Neue"/>
              </a:rPr>
              <a:t> for every probe whose outcome differs. Zero variance where the answer varies most.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7C9CFF"/>
                </a:solidFill>
                <a:latin typeface="Helvetica Neue"/>
              </a:rPr>
              <a:t>●  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That is a real boundary, it came entirely from things not working, and the question past it is the one I would most like help with.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3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56000"/>
          </a:xfrm>
          <a:prstGeom prst="rect">
            <a:avLst/>
          </a:prstGeom>
          <a:solidFill>
            <a:srgbClr val="7C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60000" y="430000"/>
            <a:ext cx="1702000" cy="340000"/>
          </a:xfrm>
          <a:prstGeom prst="roundRect">
            <a:avLst/>
          </a:prstGeom>
          <a:solidFill>
            <a:srgbClr val="1E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8000" bIns="8000" lIns="120000" rIns="120000"/>
          <a:lstStyle/>
          <a:p>
            <a:pPr algn="ctr"/>
            <a:r>
              <a:rPr sz="1200" b="1" i="0">
                <a:solidFill>
                  <a:srgbClr val="7C9CFF"/>
                </a:solidFill>
                <a:latin typeface="Helvetica Neue"/>
              </a:rPr>
              <a:t>§4 · WHAT I WANT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834000" y="430000"/>
            <a:ext cx="598000" cy="340000"/>
          </a:xfrm>
          <a:prstGeom prst="roundRect">
            <a:avLst/>
          </a:prstGeom>
          <a:solidFill>
            <a:srgbClr val="161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8000" bIns="8000" lIns="120000" rIns="120000"/>
          <a:lstStyle/>
          <a:p>
            <a:pPr algn="ctr"/>
            <a:r>
              <a:rPr sz="1200" b="1" i="0">
                <a:solidFill>
                  <a:srgbClr val="8A93A8"/>
                </a:solidFill>
                <a:latin typeface="Helvetica Neue"/>
              </a:rPr>
              <a:t>⏱ 1m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0000" y="870000"/>
            <a:ext cx="1067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EAECF4"/>
                </a:solidFill>
                <a:latin typeface="Helvetica Neue"/>
              </a:rPr>
              <a:t>Three things I cannot decide from inside</a:t>
            </a:r>
          </a:p>
        </p:txBody>
      </p:sp>
      <p:sp>
        <p:nvSpPr>
          <p:cNvPr id="6" name="Rectangle 5"/>
          <p:cNvSpPr/>
          <p:nvPr/>
        </p:nvSpPr>
        <p:spPr>
          <a:xfrm>
            <a:off x="760000" y="1660000"/>
            <a:ext cx="10672000" cy="15000"/>
          </a:xfrm>
          <a:prstGeom prst="rect">
            <a:avLst/>
          </a:prstGeom>
          <a:solidFill>
            <a:srgbClr val="2A32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0000" y="1636000"/>
            <a:ext cx="720000" cy="60000"/>
          </a:xfrm>
          <a:prstGeom prst="rect">
            <a:avLst/>
          </a:prstGeom>
          <a:solidFill>
            <a:srgbClr val="7C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0000" y="6388000"/>
            <a:ext cx="10672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8A93A8"/>
                </a:solidFill>
                <a:latin typeface="Helvetica Neue"/>
              </a:rPr>
              <a:t>edit-slice · what an edit really moves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0000" y="6388000"/>
            <a:ext cx="10672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93A8"/>
                </a:solidFill>
                <a:latin typeface="Helvetica Neue"/>
              </a:rPr>
              <a:t>11 / 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812000"/>
            <a:ext cx="12192000" cy="46000"/>
          </a:xfrm>
          <a:prstGeom prst="rect">
            <a:avLst/>
          </a:prstGeom>
          <a:solidFill>
            <a:srgbClr val="1E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812000"/>
            <a:ext cx="12192000" cy="46000"/>
          </a:xfrm>
          <a:prstGeom prst="rect">
            <a:avLst/>
          </a:prstGeom>
          <a:solidFill>
            <a:srgbClr val="7C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000" y="1900000"/>
            <a:ext cx="10672000" cy="43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7C9CFF"/>
                </a:solidFill>
                <a:latin typeface="Helvetica Neue"/>
              </a:rPr>
              <a:t>●  </a:t>
            </a:r>
            <a:r>
              <a:rPr sz="1800" b="1" i="0">
                <a:solidFill>
                  <a:srgbClr val="EAECF4"/>
                </a:solidFill>
                <a:latin typeface="Helvetica Neue"/>
              </a:rPr>
              <a:t>Is the main result already known?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 It is a line of arithmetic. Practitioners may simply assume it, and 'we could not find it stated' is the weakest form of a novelty claim.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7C9CFF"/>
                </a:solidFill>
                <a:latin typeface="Helvetica Neue"/>
              </a:rPr>
              <a:t>●  </a:t>
            </a:r>
            <a:r>
              <a:rPr sz="1800" b="1" i="0">
                <a:solidFill>
                  <a:srgbClr val="EAECF4"/>
                </a:solidFill>
                <a:latin typeface="Helvetica Neue"/>
              </a:rPr>
              <a:t>Is the benchmark consequence worth a week?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 Re-scoring one published test with the names moved is the only thing here that changes what others do.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7C9CFF"/>
                </a:solidFill>
                <a:latin typeface="Helvetica Neue"/>
              </a:rPr>
              <a:t>●  </a:t>
            </a:r>
            <a:r>
              <a:rPr sz="1800" b="1" i="0">
                <a:solidFill>
                  <a:srgbClr val="EAECF4"/>
                </a:solidFill>
                <a:latin typeface="Helvetica Neue"/>
              </a:rPr>
              <a:t>Is a small, careful result publishable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, or does this need the scale work it currently refuses to do?</a:t>
            </a:r>
          </a:p>
          <a:p>
            <a:pPr lvl="1">
              <a:lnSpc>
                <a:spcPct val="108000"/>
              </a:lnSpc>
              <a:spcAft>
                <a:spcPts val="500"/>
              </a:spcAft>
            </a:pPr>
            <a:r>
              <a:rPr sz="1600" b="0" i="0">
                <a:solidFill>
                  <a:srgbClr val="8A93A8"/>
                </a:solidFill>
                <a:latin typeface="Helvetica Neue"/>
              </a:rPr>
              <a:t>    –  </a:t>
            </a:r>
            <a:r>
              <a:rPr sz="1600" b="0" i="0">
                <a:solidFill>
                  <a:srgbClr val="8A93A8"/>
                </a:solidFill>
                <a:latin typeface="Helvetica Neue"/>
              </a:rPr>
              <a:t>Nine open questions are written up with what each would settle and what it costs. Which is worth a month is the judgement I would most like contradicted.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
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 min spoken (the CORE), then a LIVE walkthrough of results/. Slow, honest, invite steering. Deck is a backstop, not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1m. Ground everyone in the AGREED direction (the email, Aug 2). This is the shared starting point before I show where running it 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Then ~5 min of trajectory, then results live. Frame Arnab's role as the adversarial reviewer (Natalie's framing) — the hard-questions slide is for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1m. The phenomenon (E-014). Figure next. Keep to the research finding — the deployment angle is the coda,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figure carry it: paraphrase 57% updated; 1-hop 61% stale; 2-hop 81% broken. Locality excluded (n=3, not measurable). Anti-cherry-pick payoff — the clean landmark story (5/5) becomes 57%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1m. The predictor-by-hop crossover. This is the agreed direction's core comparison (raw vs structured vs alignment), against the real 397-row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1m. HONEST result: partial causal signal (subject beats random ~20pts, clear at 2-hop) but high control = not clean localization, and no hop-crossover. Do NOT overclaim. This is exactly what to hand Arnab — a diagnosed inconclusive with a concrete fix (clean-vector control / path patching / attention knockout).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1m. Honest, data-led. The behavioural (E-014) + predictive (E-015) arcs support the two-graphs picture; the first causal probe is suggestive but inconclusive. Present the causal leg as an open, well-diagnosed next step — that's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The thesis, visualized. HONEST label: this is the behavioural (E-014) + predictive (E-015) picture; the causal-read edges are the hypothesis E-016 probed but did NOT cleanly confirm. Draft schematic — refine styling rested.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the research says editing is unreliable in a characterizable way. As an infra engineer, here's the deployable consequence. Clearly forward-looking / less mature than the spine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1m — the pivot. Complementary, not competitors (Liu 2025, Zhang 2025). Deliver as 'where the evidence pushed me', ~70% conviction, not decided.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1m. The deployment consequence of the research. Arnab's wheelhouse.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1.5m. The pitch — motivated by the data, framed through the infra identity, honestly labeled forward-looking. Invite Arnab to attack it. First experiment = the significance gate (backup).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Research first (is the science sound), then the coda pitch (is the infra worth it). End the spoken part here; hand off 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live demo. Open results/, walk the blast-radius PNG, the 3-way json, the predictor arc. Emphasise reproducibility → scaling (GPU, bigger models, the certifier run). Backup slides below hold the exact tables if you'd rather show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past here is on-demand — pull a slide if asked, or show the live results/ artifacts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FT wrecking-ball baseline, visualized (results/final/tables/propagation_table.txt). Corroborates the hop-decay shape. Do NOT claim locality — that run had no competence filter, so 'preserved' conflates specificity with unchanged garbage.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[T-015] — the LANDMARK set, superseded by E-014's random n=397. Do not cite 5/5 as a result; it's the cherry-pick baseline. Figure: rome_blast_radius.png.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Robustness: the distribution holds across two independent RippleEdits samples. Strengthens the anti-cherry-pick point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[E-011/E-011b], 171 pairs. mean-pool washes out; last-token faint raw signal; structured sep~0 everywhere. Proxy (unedited-model type-separation), small n. Figures: results/predictor_arc.png, gpt2med_last_arc.png.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Execution / sitting-with-it signal. Logs in results/.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backward from one figure; pre-registered null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breath. Science first, then the infra it motivates. Then hard questions,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invite the attack (Arnab's adversarial-reviewer role). These are MY answers; I want them stress-tested. Silence is also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0000" y="2560000"/>
            <a:ext cx="760000" cy="66000"/>
          </a:xfrm>
          <a:prstGeom prst="rect">
            <a:avLst/>
          </a:prstGeom>
          <a:solidFill>
            <a:srgbClr val="F6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0000" y="2720000"/>
            <a:ext cx="1067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EAECF4"/>
                </a:solidFill>
                <a:latin typeface="Helvetica Neue"/>
              </a:rPr>
              <a:t>Knowledge editing → the consistency seam</a:t>
            </a:r>
          </a:p>
          <a:p>
            <a:r>
              <a:rPr sz="4000" b="1" i="0">
                <a:solidFill>
                  <a:srgbClr val="7C9CFF"/>
                </a:solidFill>
                <a:latin typeface="Helvetica Neue"/>
              </a:rPr>
              <a:t>a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4480000"/>
            <a:ext cx="1067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A93A8"/>
                </a:solidFill>
                <a:latin typeface="Helvetica Neue"/>
              </a:rPr>
              <a:t>Walkthrough for Arnab · 2026-08-25 · Saif Ul Islam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3266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§1 · THE DIRECTION (agreed Aug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Does representational geometry predict edit propagation?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02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1016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thread we agreed on: does 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representational geometry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between an edited fact and its logically-entailed neighbours predict whether an edit actually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propagates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to them?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Resolved across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entailment hops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 (paraphrase / 1-hop / 2-hop), measured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causally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 (IIA) — not just behaviourally — comparing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raw-distance vs. structured-geometry vs. alignment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 predictors.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Stakes: editing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fails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ripple today — ROME-edited GPT-J answers only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7.6%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of MQuAKE multi-hop.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Homework first (Asta + literature incl. NDIF corpus): the hop-resolved </a:t>
            </a:r>
            <a:r>
              <a:rPr sz="1800" b="0" i="1">
                <a:solidFill>
                  <a:srgbClr val="EAECF4"/>
                </a:solidFill>
                <a:latin typeface="Helvetica Neue"/>
              </a:rPr>
              <a:t>causal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comparison looked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unclaimed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(dense: SLAQ, Kim/Jeong, Nishi shattering, RAVEL).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806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 · WHAT I'D LOVE FROM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42000" y="430000"/>
            <a:ext cx="690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30s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Pressure-test where it stands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03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1524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Is the direction still sound?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I have results that reframed it; check my logic.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What am I missing?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pointers, prior work, blind spots.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Attack the hard questions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I've written them down (last slide); try to break them.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How do we scale it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compute + collaboration toward sharper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97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§2 · THE PHENOMENON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Editing propagation collapses — and over-propagates — with 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04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2032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Reproduced the ripple failure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(random RippleEdits, n=397): correct propagation collapses beyond paraphrase — 1-hop mostly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stale (61%)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, 2-hop mostly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broken (81%)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[E-014]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Over-propagation is the mechanism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of broken cases, target-bleed rises with hop: 0% → 25% → </a:t>
            </a:r>
            <a:r>
              <a:rPr sz="1800" b="1" i="0">
                <a:solidFill>
                  <a:srgbClr val="F6A96B"/>
                </a:solidFill>
                <a:latin typeface="Helvetica Neue"/>
              </a:rPr>
              <a:t>58%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(the edit's value spills into farther neighbours).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Non-cherry-picked + reproducible; FT baseline shows the same hop-decay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[E-012]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 (Locality not yet measurable — needs a capable model.)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162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§2 · THE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42000" y="430000"/>
            <a:ext cx="690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30s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ROME edit → neighbour outcomes (no cherry-picking)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05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2540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al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648" y="1900000"/>
            <a:ext cx="7300704" cy="35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000" y="5530000"/>
            <a:ext cx="1067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8"/>
                </a:solidFill>
                <a:latin typeface="Helvetica Neue"/>
              </a:rPr>
              <a:t>90 random edits · 397 neighbours · gpt2-small · seed 1538 — reproducible from results/final/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990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§3 · DOES GEOMETRY PREDICT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Yes — but which geometry depends on the 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06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3048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edict_scale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221" y="1900000"/>
            <a:ext cx="6429558" cy="35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000" y="5530000"/>
            <a:ext cx="1067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8"/>
                </a:solidFill>
                <a:latin typeface="Helvetica Neue"/>
              </a:rPr>
              <a:t>raw distance predicts NEAR (paraphrase AUC 0.80 [0.74,0.86]) but fails FAR (2-hop 0.46, spans chance); structured/alignment capture the FAR signal (~0.75, CI &gt;0.5) </a:t>
            </a:r>
            <a:r>
              <a:rPr sz="1400" b="0" i="0">
                <a:solidFill>
                  <a:srgbClr val="7C9CFF"/>
                </a:solidFill>
                <a:latin typeface="Menlo"/>
              </a:rPr>
              <a:t>[E-015]</a:t>
            </a:r>
            <a:r>
              <a:rPr sz="1400" b="0" i="0">
                <a:solidFill>
                  <a:srgbClr val="8A93A8"/>
                </a:solidFill>
                <a:latin typeface="Helvetica Neue"/>
              </a:rPr>
              <a:t>. </a:t>
            </a:r>
            <a:r>
              <a:rPr sz="1400" b="1" i="0">
                <a:solidFill>
                  <a:srgbClr val="EAECF4"/>
                </a:solidFill>
                <a:latin typeface="Helvetica Neue"/>
              </a:rPr>
              <a:t>Bootstrap CIs confirm the crossover</a:t>
            </a:r>
            <a:r>
              <a:rPr sz="1400" b="0" i="0">
                <a:solidFill>
                  <a:srgbClr val="8A93A8"/>
                </a:solidFill>
                <a:latin typeface="Helvetica Neue"/>
              </a:rPr>
              <a:t> (1-hop uninterpretable, 2 pos). ALL-column is type-confounded → per-hop is honest.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622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§4 · IS IT CAUSAL? (E-016)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Subject site carries weight — but propagation isn't cleanly localized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07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3556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ia_by_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505" y="1900000"/>
            <a:ext cx="6066989" cy="35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000" y="5530000"/>
            <a:ext cx="1067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8"/>
                </a:solidFill>
                <a:latin typeface="Helvetica Neue"/>
              </a:rPr>
              <a:t>Interchange (n=228 affected): subject-site patch reproduces the edit 90–100%, </a:t>
            </a:r>
            <a:r>
              <a:rPr sz="1400" b="1" i="0">
                <a:solidFill>
                  <a:srgbClr val="EAECF4"/>
                </a:solidFill>
                <a:latin typeface="Helvetica Neue"/>
              </a:rPr>
              <a:t>~20pts above</a:t>
            </a:r>
            <a:r>
              <a:rPr sz="1400" b="0" i="0">
                <a:solidFill>
                  <a:srgbClr val="8A93A8"/>
                </a:solidFill>
                <a:latin typeface="Helvetica Neue"/>
              </a:rPr>
              <a:t> a random-position control </a:t>
            </a:r>
            <a:r>
              <a:rPr sz="1400" b="0" i="0">
                <a:solidFill>
                  <a:srgbClr val="7C9CFF"/>
                </a:solidFill>
                <a:latin typeface="Menlo"/>
              </a:rPr>
              <a:t>[E-016]</a:t>
            </a:r>
            <a:r>
              <a:rPr sz="1400" b="0" i="0">
                <a:solidFill>
                  <a:srgbClr val="8A93A8"/>
                </a:solidFill>
                <a:latin typeface="Helvetica Neue"/>
              </a:rPr>
              <a:t> — real causal weight (clear at 2-hop, n=178). BUT control is high (66–76%) → the edit's rep is </a:t>
            </a:r>
            <a:r>
              <a:rPr sz="1400" b="1" i="0">
                <a:solidFill>
                  <a:srgbClr val="EAECF4"/>
                </a:solidFill>
                <a:latin typeface="Helvetica Neue"/>
              </a:rPr>
              <a:t>broadly readable, not localized</a:t>
            </a:r>
            <a:r>
              <a:rPr sz="1400" b="0" i="0">
                <a:solidFill>
                  <a:srgbClr val="8A93A8"/>
                </a:solidFill>
                <a:latin typeface="Helvetica Neue"/>
              </a:rPr>
              <a:t>; and </a:t>
            </a:r>
            <a:r>
              <a:rPr sz="1400" b="1" i="0">
                <a:solidFill>
                  <a:srgbClr val="EAECF4"/>
                </a:solidFill>
                <a:latin typeface="Helvetica Neue"/>
              </a:rPr>
              <a:t>no near/far hop-differential</a:t>
            </a:r>
            <a:r>
              <a:rPr sz="1400" b="0" i="0">
                <a:solidFill>
                  <a:srgbClr val="8A93A8"/>
                </a:solidFill>
                <a:latin typeface="Helvetica Neue"/>
              </a:rPr>
              <a:t>. Suggestive, not clean — next: a tighter intervention (path-patching).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346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§5 · WHAT THE DATA SAYS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Entailment neighbours drift from representational neighbours with 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08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4064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Logical neighbours are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not uniformly representational neighbours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closeness (and, we test, causal readability)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decays with hop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That one fact explains both failures: at distance the edit can't </a:t>
            </a:r>
            <a:r>
              <a:rPr sz="1800" b="0" i="1">
                <a:solidFill>
                  <a:srgbClr val="EAECF4"/>
                </a:solidFill>
                <a:latin typeface="Helvetica Neue"/>
              </a:rPr>
              <a:t>reach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the neighbour (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stale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) or reaches the wrong slot (</a:t>
            </a:r>
            <a:r>
              <a:rPr sz="1800" b="1" i="0">
                <a:solidFill>
                  <a:srgbClr val="F6A96B"/>
                </a:solidFill>
                <a:latin typeface="Helvetica Neue"/>
              </a:rPr>
              <a:t>over-propagation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two graphs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logical entailment vs. the model's causal-read graph — look like they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align near the edit, diverge with hop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[T-006]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</a:t>
            </a:r>
            <a:r>
              <a:rPr sz="1800" b="0" i="1">
                <a:solidFill>
                  <a:srgbClr val="EAECF4"/>
                </a:solidFill>
                <a:latin typeface="Helvetica Neue"/>
              </a:rPr>
              <a:t>behaviourally + predictively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Causal leg (E-016) is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not clean yet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: the subject site carries weight (beats random ~20pts) but the edit's rep is broadly readable (control ~75%), no hop-differential → a targeted intervention is the next step, not a claim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3082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§5 · THE TWO GRAPHS (schematic)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42000" y="430000"/>
            <a:ext cx="690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30s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Logical neighbours become representational strangers with 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09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4572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wo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48" y="1900000"/>
            <a:ext cx="6047703" cy="35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0000" y="5530000"/>
            <a:ext cx="1067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8"/>
                </a:solidFill>
                <a:latin typeface="Helvetica Neue"/>
              </a:rPr>
              <a:t>Left: logical entailment (all hops connected). Right: the model's read graph — strong near, weak/mis-routed far. Ripple fails where they diverge. (Behavioural + predictive picture; the causal leg is still open — E-016.)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F6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2950000"/>
            <a:ext cx="1067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A93A8"/>
                </a:solidFill>
                <a:latin typeface="Helvetica Neue"/>
              </a:rPr>
              <a:t>CODA · where this goes — infrastructure for reliable editing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886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CODA · THE REFRAME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I was grading editing on RAG's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11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5588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Two things collided: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MEMIT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holds ~90 editing-score at 10K edits (editing isn't broadly breaking models); 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ripple failure is specifically multi-hop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Resolution `[T-017]`: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editing = what the model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believes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(reasons </a:t>
            </a:r>
            <a:r>
              <a:rPr sz="1800" b="0" i="1">
                <a:solidFill>
                  <a:srgbClr val="EAECF4"/>
                </a:solidFill>
                <a:latin typeface="Helvetica Neue"/>
              </a:rPr>
              <a:t>from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); RAG = what it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reasons over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at inference.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Different functions, different metrics. Multi-hop is RAG's job.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MEMIT succeeding at belief AND failing multi-hop are </a:t>
            </a:r>
            <a:r>
              <a:rPr sz="1800" b="1" i="0">
                <a:solidFill>
                  <a:srgbClr val="6FD39A"/>
                </a:solidFill>
                <a:latin typeface="Helvetica Neue"/>
              </a:rPr>
              <a:t>not a contradiction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two jobs.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346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CODA · THE GAP IT OPENS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Hybrid systems use both stores — nobody checks they 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12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6096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research says editing is unreliable in a </a:t>
            </a:r>
            <a:r>
              <a:rPr sz="1800" b="0" i="1">
                <a:solidFill>
                  <a:srgbClr val="EAECF4"/>
                </a:solidFill>
                <a:latin typeface="Helvetica Neue"/>
              </a:rPr>
              <a:t>characterizable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way. In deployment, you pair it with RAG: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edit for belief, retrieve for reasoning.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Do the two agree?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They can silently contradict — model asserts its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stale parametric belief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while the RAG index holds the fix, or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retrieves the fix and ignores it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(edit skipping).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No current metric catches this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editing benchmarks probe weights only; RAG benchmarks probe retrieval only. Nobody checks 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seam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530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CODA · THE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50000" y="430000"/>
            <a:ext cx="782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1.5m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A consistency-certifier for reliable editing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13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6604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My angle: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I build infrastructure. If editing is unreliable this way, the deployable fix is a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reliability layer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so ordinary researchers can keep a model current without silently corrupting it.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Probe both stores →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detect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contradictions → optionally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reconcile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→ emit a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scoped certificate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Honest `[T-018]`: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DMM Gov </a:t>
            </a:r>
            <a:r>
              <a:rPr sz="1800" b="0" i="1">
                <a:solidFill>
                  <a:srgbClr val="EAECF4"/>
                </a:solidFill>
                <a:latin typeface="Helvetica Neue"/>
              </a:rPr>
              <a:t>specifies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this loop; nobody builds/measures it — 'first to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build + certify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', never 'conceive'. Less mature than the spine above.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000" y="3820000"/>
            <a:ext cx="1560000" cy="840000"/>
          </a:xfrm>
          <a:prstGeom prst="roundRect">
            <a:avLst/>
          </a:prstGeom>
          <a:solidFill>
            <a:srgbClr val="161C2E"/>
          </a:solidFill>
          <a:ln w="12700">
            <a:solidFill>
              <a:srgbClr val="2A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 i="0">
                <a:solidFill>
                  <a:srgbClr val="8A93A8"/>
                </a:solidFill>
                <a:latin typeface="Helvetica Neue"/>
              </a:rPr>
              <a:t>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0000" y="4090000"/>
            <a:ext cx="26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93A8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82400" y="3820000"/>
            <a:ext cx="1560000" cy="840000"/>
          </a:xfrm>
          <a:prstGeom prst="roundRect">
            <a:avLst/>
          </a:prstGeom>
          <a:solidFill>
            <a:srgbClr val="161C2E"/>
          </a:solidFill>
          <a:ln w="12700">
            <a:solidFill>
              <a:srgbClr val="2A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 i="0">
                <a:solidFill>
                  <a:srgbClr val="8A93A8"/>
                </a:solidFill>
                <a:latin typeface="Helvetica Neue"/>
              </a:rPr>
              <a:t>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400" y="4090000"/>
            <a:ext cx="26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93A8"/>
                </a:solidFill>
                <a:latin typeface="Helvetica Neu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800" y="3820000"/>
            <a:ext cx="1560000" cy="840000"/>
          </a:xfrm>
          <a:prstGeom prst="roundRect">
            <a:avLst/>
          </a:prstGeom>
          <a:solidFill>
            <a:srgbClr val="1E2540"/>
          </a:solidFill>
          <a:ln w="12700">
            <a:solidFill>
              <a:srgbClr val="2A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 i="0">
                <a:solidFill>
                  <a:srgbClr val="EAECF4"/>
                </a:solidFill>
                <a:latin typeface="Helvetica Neue"/>
              </a:rPr>
              <a:t>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4800" y="4090000"/>
            <a:ext cx="26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93A8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200" y="3820000"/>
            <a:ext cx="1560000" cy="840000"/>
          </a:xfrm>
          <a:prstGeom prst="roundRect">
            <a:avLst/>
          </a:prstGeom>
          <a:solidFill>
            <a:srgbClr val="1E2540"/>
          </a:solidFill>
          <a:ln w="19050">
            <a:solidFill>
              <a:srgbClr val="7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 i="0">
                <a:solidFill>
                  <a:srgbClr val="7C9CFF"/>
                </a:solidFill>
                <a:latin typeface="Helvetica Neue"/>
              </a:rPr>
              <a:t>DETECT</a:t>
            </a:r>
          </a:p>
          <a:p>
            <a:pPr algn="ctr"/>
            <a:r>
              <a:rPr sz="900" b="0" i="1">
                <a:solidFill>
                  <a:srgbClr val="8A93A8"/>
                </a:solidFill>
                <a:latin typeface="Helvetica Neue"/>
              </a:rPr>
              <a:t>novel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7200" y="4090000"/>
            <a:ext cx="26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93A8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9600" y="3820000"/>
            <a:ext cx="1560000" cy="840000"/>
          </a:xfrm>
          <a:prstGeom prst="roundRect">
            <a:avLst/>
          </a:prstGeom>
          <a:solidFill>
            <a:srgbClr val="161C2E"/>
          </a:solidFill>
          <a:ln w="12700">
            <a:solidFill>
              <a:srgbClr val="2A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 i="0">
                <a:solidFill>
                  <a:srgbClr val="8A93A8"/>
                </a:solidFill>
                <a:latin typeface="Helvetica Neue"/>
              </a:rPr>
              <a:t>RECONCILE</a:t>
            </a:r>
          </a:p>
          <a:p>
            <a:pPr algn="ctr"/>
            <a:r>
              <a:rPr sz="900" b="0" i="1">
                <a:solidFill>
                  <a:srgbClr val="8A93A8"/>
                </a:solidFill>
                <a:latin typeface="Helvetica Neue"/>
              </a:rPr>
              <a:t>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9600" y="4090000"/>
            <a:ext cx="262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A93A8"/>
                </a:solidFill>
                <a:latin typeface="Helvetica Neue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2000" y="3820000"/>
            <a:ext cx="1560000" cy="840000"/>
          </a:xfrm>
          <a:prstGeom prst="roundRect">
            <a:avLst/>
          </a:prstGeom>
          <a:solidFill>
            <a:srgbClr val="1E2540"/>
          </a:solidFill>
          <a:ln w="19050">
            <a:solidFill>
              <a:srgbClr val="7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 i="0">
                <a:solidFill>
                  <a:srgbClr val="7C9CFF"/>
                </a:solidFill>
                <a:latin typeface="Helvetica Neue"/>
              </a:rPr>
              <a:t>CERTIFY</a:t>
            </a:r>
          </a:p>
          <a:p>
            <a:pPr algn="ctr"/>
            <a:r>
              <a:rPr sz="900" b="0" i="1">
                <a:solidFill>
                  <a:srgbClr val="8A93A8"/>
                </a:solidFill>
                <a:latin typeface="Helvetica Neue"/>
              </a:rPr>
              <a:t>novel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00" y="4870000"/>
            <a:ext cx="1067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8A93A8"/>
                </a:solidFill>
                <a:latin typeface="Helvetica Neue"/>
              </a:rPr>
              <a:t>■ </a:t>
            </a:r>
            <a:r>
              <a:rPr sz="1300" b="0" i="0">
                <a:solidFill>
                  <a:srgbClr val="8A93A8"/>
                </a:solidFill>
                <a:latin typeface="Helvetica Neue"/>
              </a:rPr>
              <a:t>adopted (DMM Gov)      </a:t>
            </a:r>
            <a:r>
              <a:rPr sz="1400" b="0" i="0">
                <a:solidFill>
                  <a:srgbClr val="7C9CFF"/>
                </a:solidFill>
                <a:latin typeface="Helvetica Neue"/>
              </a:rPr>
              <a:t>■ </a:t>
            </a:r>
            <a:r>
              <a:rPr sz="1300" b="0" i="0">
                <a:solidFill>
                  <a:srgbClr val="7C9CFF"/>
                </a:solidFill>
                <a:latin typeface="Helvetica Neue"/>
              </a:rPr>
              <a:t>novel — build + measure      </a:t>
            </a:r>
            <a:r>
              <a:rPr sz="1300" b="0" i="1">
                <a:solidFill>
                  <a:srgbClr val="8A93A8"/>
                </a:solidFill>
                <a:latin typeface="Helvetica Neue"/>
              </a:rPr>
              <a:t>RECONCILE = v2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162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· WHAT I'M ASKING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42000" y="430000"/>
            <a:ext cx="690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45s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Four questions — research first, then the 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14 /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7112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Is the interpretation sound?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the two-graphs read — align near, diverge with hop — do you buy it?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Is the causal design right?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the E-016 interchange — anything you'd change before I scale it to GPT-J?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The coda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is the reliability-layer direction worth pursuing, and unclaimed beyond DMM Gov? (adversarial review welcome)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Compute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GPU for GPT-J to scale the causal test + a capable-model specificity check?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794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→ LIVE · results/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Now — let me show you, empirically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15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7620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Everything under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results/final/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data, figures, tables + a README that regenerates it all (seed 1538).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Distribution + predictor + causal: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figures/{scale_distribution, predict_scale_auc, iia_by_hop}.png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Raw rows: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data/{scale_study(397), iia_scale, rome_study, tb_rows}.json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; numbers + CIs in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tables/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Every run logged + reproducible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(</a:t>
            </a:r>
            <a:r>
              <a:rPr sz="1800" b="0" i="0">
                <a:solidFill>
                  <a:srgbClr val="7C9CFF"/>
                </a:solidFill>
                <a:latin typeface="Menlo"/>
              </a:rPr>
              <a:t>results/logs/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).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Because it's all reproducible, the effort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scales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: swap model/editor, add edits, or move to GPT-J for the causal + specificity tests.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F6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2950000"/>
            <a:ext cx="1067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A93A8"/>
                </a:solidFill>
                <a:latin typeface="Helvetica Neue"/>
              </a:rPr>
              <a:t>Backup · detail on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3174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BACKUP · OUTCOME 1 (FT 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FT-L baseline: propagation decays with hop `[E-012]`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17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8636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t_propagation_by_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45" y="1900000"/>
            <a:ext cx="6036309" cy="35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0000" y="5530000"/>
            <a:ext cx="1067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8"/>
                </a:solidFill>
                <a:latin typeface="Helvetica Neue"/>
              </a:rPr>
              <a:t>FT-L · gpt2-small · 20 edits — 20% → 14% → 0% by hop. Locality omitted: no competence filter → not a clean specificity measure.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4094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BACKUP · OUTCOME 2 (landmark — SUPERSEDED)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The 5 hand-picked landmarks — before the scale run corrected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18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9144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original n=5 (Eiffel/Louvre/…),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SUPERSEDED by the n=397 random run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(paraphrase 5/5 → 57%). Kept only to show the non-obvious patterns it first surfaced: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non-monotone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 (1-hop breaks more than 2-hop);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over-propagation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 (city → country slot);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target-bleed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 into unrelated facts.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0000" y="3520000"/>
          <a:ext cx="10672000" cy="304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976320"/>
                <a:gridCol w="469568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F1320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solidFill>
                      <a:srgbClr val="7C9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F1320"/>
                          </a:solidFill>
                          <a:latin typeface="Helvetica Neue"/>
                        </a:rPr>
                        <a:t>outcome (n=5 landmarks)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solidFill>
                      <a:srgbClr val="7C9C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AECF4"/>
                          </a:solidFill>
                          <a:latin typeface="Helvetica Neue"/>
                        </a:rPr>
                        <a:t>paraphrase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6FD39A"/>
                          </a:solidFill>
                          <a:latin typeface="Helvetica Neue"/>
                        </a:rPr>
                        <a:t>updated 5/5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AECF4"/>
                          </a:solidFill>
                          <a:latin typeface="Helvetica Neue"/>
                        </a:rPr>
                        <a:t>1-hop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E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58AA0"/>
                          </a:solidFill>
                          <a:latin typeface="Helvetica Neue"/>
                        </a:rPr>
                        <a:t>broken 4, stale 1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E2540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AECF4"/>
                          </a:solidFill>
                          <a:latin typeface="Helvetica Neue"/>
                        </a:rPr>
                        <a:t>2-hop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8A93A8"/>
                          </a:solidFill>
                          <a:latin typeface="Helvetica Neue"/>
                        </a:rPr>
                        <a:t>updated 3, broken 2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AECF4"/>
                          </a:solidFill>
                          <a:latin typeface="Helvetica Neue"/>
                        </a:rPr>
                        <a:t>locality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E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58AA0"/>
                          </a:solidFill>
                          <a:latin typeface="Helvetica Neue"/>
                        </a:rPr>
                        <a:t>fine 4, broken 6  (~60% leak)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E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3174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BACKUP · ROBUSTNESS (2nd 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The hop-decay replicates on a second RippleEdits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19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9652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742" y="1900000"/>
            <a:ext cx="7174515" cy="35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0000" y="5530000"/>
            <a:ext cx="1067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A8"/>
                </a:solidFill>
                <a:latin typeface="Helvetica Neue"/>
              </a:rPr>
              <a:t>popular (90 edits/397) vs random (97/371): same shape — paraphrase updates (57/69%), 1-hop stalls (61/71% stale), 2-hop breaks (81/74%) </a:t>
            </a:r>
            <a:r>
              <a:rPr sz="1400" b="0" i="0">
                <a:solidFill>
                  <a:srgbClr val="7C9CFF"/>
                </a:solidFill>
                <a:latin typeface="Menlo"/>
              </a:rPr>
              <a:t>[T-022]</a:t>
            </a:r>
            <a:r>
              <a:rPr sz="1400" b="0" i="0">
                <a:solidFill>
                  <a:srgbClr val="8A93A8"/>
                </a:solidFill>
                <a:latin typeface="Helvetica Neue"/>
              </a:rPr>
              <a:t>. Two independent samples → not a cherry-picked distribution.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714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BACKUP · THE STRUCTURAL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Structure did NOT beat distance (yet)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20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0160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sep = mean(cos, propagate-types) − cos(locality)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;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sep &gt; 0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⇒ separates.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Real-label test: raw cosine AUC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0.68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[E-013]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; capacity helps — GPT-J last-token sep ≈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+0.06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[E-007]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0000" y="3520000"/>
          <a:ext cx="10672000" cy="242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909120"/>
                <a:gridCol w="3094880"/>
                <a:gridCol w="2668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F1320"/>
                          </a:solidFill>
                          <a:latin typeface="Helvetica Neue"/>
                        </a:rPr>
                        <a:t>setting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solidFill>
                      <a:srgbClr val="7C9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F1320"/>
                          </a:solidFill>
                          <a:latin typeface="Helvetica Neue"/>
                        </a:rPr>
                        <a:t>raw distance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solidFill>
                      <a:srgbClr val="7C9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F1320"/>
                          </a:solidFill>
                          <a:latin typeface="Helvetica Neue"/>
                        </a:rPr>
                        <a:t>structured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2700" cap="flat">
                      <a:noFill/>
                    </a:lnB>
                    <a:solidFill>
                      <a:srgbClr val="7C9C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AECF4"/>
                          </a:solidFill>
                          <a:latin typeface="Helvetica Neue"/>
                        </a:rPr>
                        <a:t>gpt2-small · mean-pool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8A93A8"/>
                          </a:solidFill>
                          <a:latin typeface="Helvetica Neue"/>
                        </a:rPr>
                        <a:t>+0.006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F58AA0"/>
                          </a:solidFill>
                          <a:latin typeface="Helvetica Neue"/>
                        </a:rPr>
                        <a:t>−0.001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AECF4"/>
                          </a:solidFill>
                          <a:latin typeface="Helvetica Neue"/>
                        </a:rPr>
                        <a:t>gpt2-medium · mean-pool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E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8A93A8"/>
                          </a:solidFill>
                          <a:latin typeface="Helvetica Neue"/>
                        </a:rPr>
                        <a:t>~0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E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8A93A8"/>
                          </a:solidFill>
                          <a:latin typeface="Helvetica Neue"/>
                        </a:rPr>
                        <a:t>~0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E2540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EAECF4"/>
                          </a:solidFill>
                          <a:latin typeface="Helvetica Neue"/>
                        </a:rPr>
                        <a:t>gpt2-medium · last-token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6FD39A"/>
                          </a:solidFill>
                          <a:latin typeface="Helvetica Neue"/>
                        </a:rPr>
                        <a:t>+0.007 → +0.019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8A93A8"/>
                          </a:solidFill>
                          <a:latin typeface="Helvetica Neue"/>
                        </a:rPr>
                        <a:t>~0</a:t>
                      </a:r>
                    </a:p>
                  </a:txBody>
                  <a:tcPr anchor="ctr" marL="160000" marR="160000" marT="40000" marB="40000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9525" cap="flat">
                      <a:solidFill>
                        <a:srgbClr val="2A3247"/>
                      </a:solidFill>
                    </a:lnB>
                    <a:solidFill>
                      <a:srgbClr val="16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43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BACKUP · THE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What those results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21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0668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NDIF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regressed mid-work (whitelist bug) — isolated, reported, fixed.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[E-006]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NDIF can't do iterative weight edits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→ real editing must be local.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[E-012]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EasyEdit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locally: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device=cpu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,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num_workers=0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; it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silently rolls back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the edit before you can query it — patched off → </a:t>
            </a:r>
            <a:r>
              <a:rPr sz="1800" b="1" i="0">
                <a:solidFill>
                  <a:srgbClr val="6FD39A"/>
                </a:solidFill>
                <a:latin typeface="Helvetica Neue"/>
              </a:rPr>
              <a:t>all 5 ROME edits flipped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[T-015]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gpt2-medium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NaNs at the logits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on this Mac → gpt2-small (weak but real). </a:t>
            </a:r>
            <a:r>
              <a:rPr sz="1800" b="0" i="0">
                <a:solidFill>
                  <a:srgbClr val="7C9CFF"/>
                </a:solidFill>
                <a:latin typeface="Menlo"/>
              </a:rPr>
              <a:t>[E-012]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89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BACKUP · THE FIRST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Significance gate — run this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22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1176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Do realistic hybrid updates create silent contradictions that editing-only and RAG-only metrics MISS?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One figure: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silent-contradiction rate split — (i) editing-metrics miss, (ii) RAG-metrics miss, (iii) certifier catches.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If real → (i)+(ii) tall, (iii) recovers them. If ~0 → </a:t>
            </a:r>
            <a:r>
              <a:rPr sz="1800" b="1" i="0">
                <a:solidFill>
                  <a:srgbClr val="6FD39A"/>
                </a:solidFill>
                <a:latin typeface="Helvetica Neue"/>
              </a:rPr>
              <a:t>publish the negative and stop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Setup: gpt2-xl/GPT-J + small FAISS store, ROME edits, constructed contradiction ground-truth (edit P→X, retrieval Y≠X; agree-pairs as negatives).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874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23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1684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2650000"/>
            <a:ext cx="1067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EAECF4"/>
                </a:solidFill>
                <a:latin typeface="Helvetica Neue"/>
              </a:rPr>
              <a:t>The data says entailment neighbours drift from representational neighbours as hops grow — editing reaches near facts, stalls or over-propagates on far ones. </a:t>
            </a:r>
            <a:r>
              <a:rPr sz="2400" b="1" i="0">
                <a:solidFill>
                  <a:srgbClr val="EAECF4"/>
                </a:solidFill>
                <a:latin typeface="Helvetica Neue"/>
              </a:rPr>
              <a:t>That's the science.</a:t>
            </a:r>
            <a:r>
              <a:rPr sz="2400" b="0" i="0">
                <a:solidFill>
                  <a:srgbClr val="EAECF4"/>
                </a:solidFill>
                <a:latin typeface="Helvetica Neue"/>
              </a:rPr>
              <a:t> And because it makes editing unreliable in a </a:t>
            </a:r>
            <a:r>
              <a:rPr sz="2400" b="0" i="1">
                <a:solidFill>
                  <a:srgbClr val="EAECF4"/>
                </a:solidFill>
                <a:latin typeface="Helvetica Neue"/>
              </a:rPr>
              <a:t>measurable</a:t>
            </a:r>
            <a:r>
              <a:rPr sz="2400" b="0" i="0">
                <a:solidFill>
                  <a:srgbClr val="EAECF4"/>
                </a:solidFill>
                <a:latin typeface="Helvetica Neue"/>
              </a:rPr>
              <a:t> way, it points to the infrastructure I want to build: a reliability layer that makes editing safe to 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2070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THE HARDER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What I'd want an adversarial reviewer to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Consistency seam · a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24 /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Why edit, not just RAG?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Category error — systems use </a:t>
            </a:r>
            <a:r>
              <a:rPr sz="1800" b="0" i="1">
                <a:solidFill>
                  <a:srgbClr val="EAECF4"/>
                </a:solidFill>
                <a:latin typeface="Helvetica Neue"/>
              </a:rPr>
              <a:t>both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; the question is 'do they agree?'.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Zhang et al. (DMM Gov) specified this — what's new?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They specify; I build + measure.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Am I inventing a problem?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That's the FIRST experiment, with a pre-registered null branch.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Does reconcile converge, or is it whack-a-mole?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Empirical (v2); if it fails → detect+certify+flag.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Do you know what the model will answer?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which_wins (edit-skipping); if not → narrow the claim.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gpt2-small is a toy / can you measure specificity?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Agreed — needs a capable model (GPU/GPT-J).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Scale to 10K edits?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No — v1 is small-batch high-assurance, not mass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